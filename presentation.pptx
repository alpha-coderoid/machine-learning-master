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33" d="100"/>
          <a:sy n="233" d="100"/>
        </p:scale>
        <p:origin x="600" y="1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79997"/>
            <a:ext cx="5760085" cy="3060065"/>
          </a:xfrm>
          <a:custGeom>
            <a:avLst/>
            <a:gdLst/>
            <a:ahLst/>
            <a:cxnLst/>
            <a:rect l="l" t="t" r="r" b="b"/>
            <a:pathLst>
              <a:path w="5760085" h="3060065">
                <a:moveTo>
                  <a:pt x="5759996" y="0"/>
                </a:moveTo>
                <a:lnTo>
                  <a:pt x="0" y="0"/>
                </a:lnTo>
                <a:lnTo>
                  <a:pt x="0" y="3060001"/>
                </a:lnTo>
                <a:lnTo>
                  <a:pt x="5759996" y="3060001"/>
                </a:lnTo>
                <a:lnTo>
                  <a:pt x="5759996" y="0"/>
                </a:lnTo>
                <a:close/>
              </a:path>
            </a:pathLst>
          </a:custGeom>
          <a:solidFill>
            <a:srgbClr val="0E17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32852" y="1142770"/>
            <a:ext cx="3500094" cy="403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1E28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E28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79997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0E17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239874"/>
            <a:ext cx="315849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10573" y="1219586"/>
            <a:ext cx="2590165" cy="11010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1E28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latin typeface="Arial"/>
                <a:cs typeface="Arial"/>
              </a:rPr>
              <a:t>DDoS</a:t>
            </a:r>
            <a:r>
              <a:rPr sz="2450" b="1" spc="295" dirty="0">
                <a:latin typeface="Arial"/>
                <a:cs typeface="Arial"/>
              </a:rPr>
              <a:t> </a:t>
            </a:r>
            <a:r>
              <a:rPr sz="2450" b="1" dirty="0">
                <a:latin typeface="Arial"/>
                <a:cs typeface="Arial"/>
              </a:rPr>
              <a:t>Attack</a:t>
            </a:r>
            <a:r>
              <a:rPr sz="2450" b="1" spc="295" dirty="0">
                <a:latin typeface="Arial"/>
                <a:cs typeface="Arial"/>
              </a:rPr>
              <a:t> </a:t>
            </a:r>
            <a:r>
              <a:rPr sz="2450" b="1" spc="-10" dirty="0">
                <a:latin typeface="Arial"/>
                <a:cs typeface="Arial"/>
              </a:rPr>
              <a:t>Detection</a:t>
            </a:r>
            <a:endParaRPr sz="24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9952" y="1765818"/>
            <a:ext cx="34804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0" dirty="0">
                <a:solidFill>
                  <a:srgbClr val="00B4DC"/>
                </a:solidFill>
                <a:latin typeface="Tahoma"/>
                <a:cs typeface="Tahoma"/>
              </a:rPr>
              <a:t>Comparative</a:t>
            </a:r>
            <a:r>
              <a:rPr sz="1200" spc="-30" dirty="0">
                <a:solidFill>
                  <a:srgbClr val="00B4DC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00B4DC"/>
                </a:solidFill>
                <a:latin typeface="Tahoma"/>
                <a:cs typeface="Tahoma"/>
              </a:rPr>
              <a:t>Analysis</a:t>
            </a:r>
            <a:r>
              <a:rPr sz="1200" spc="-25" dirty="0">
                <a:solidFill>
                  <a:srgbClr val="00B4D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00B4DC"/>
                </a:solidFill>
                <a:latin typeface="Tahoma"/>
                <a:cs typeface="Tahoma"/>
              </a:rPr>
              <a:t>of</a:t>
            </a:r>
            <a:r>
              <a:rPr sz="1200" spc="-25" dirty="0">
                <a:solidFill>
                  <a:srgbClr val="00B4DC"/>
                </a:solidFill>
                <a:latin typeface="Tahoma"/>
                <a:cs typeface="Tahoma"/>
              </a:rPr>
              <a:t> </a:t>
            </a:r>
            <a:r>
              <a:rPr sz="1200" spc="50" dirty="0">
                <a:solidFill>
                  <a:srgbClr val="00B4DC"/>
                </a:solidFill>
                <a:latin typeface="Tahoma"/>
                <a:cs typeface="Tahoma"/>
              </a:rPr>
              <a:t>ML</a:t>
            </a:r>
            <a:r>
              <a:rPr sz="1200" spc="-25" dirty="0">
                <a:solidFill>
                  <a:srgbClr val="00B4DC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00B4DC"/>
                </a:solidFill>
                <a:latin typeface="Tahoma"/>
                <a:cs typeface="Tahoma"/>
              </a:rPr>
              <a:t>and</a:t>
            </a:r>
            <a:r>
              <a:rPr sz="1200" spc="-30" dirty="0">
                <a:solidFill>
                  <a:srgbClr val="00B4DC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00B4DC"/>
                </a:solidFill>
                <a:latin typeface="Tahoma"/>
                <a:cs typeface="Tahoma"/>
              </a:rPr>
              <a:t>Deep</a:t>
            </a:r>
            <a:r>
              <a:rPr sz="1200" spc="-25" dirty="0">
                <a:solidFill>
                  <a:srgbClr val="00B4DC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00B4DC"/>
                </a:solidFill>
                <a:latin typeface="Tahoma"/>
                <a:cs typeface="Tahoma"/>
              </a:rPr>
              <a:t>Learning</a:t>
            </a:r>
            <a:r>
              <a:rPr sz="1200" spc="-25" dirty="0">
                <a:solidFill>
                  <a:srgbClr val="00B4DC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00B4DC"/>
                </a:solidFill>
                <a:latin typeface="Tahoma"/>
                <a:cs typeface="Tahoma"/>
              </a:rPr>
              <a:t>Models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99996" y="2207260"/>
            <a:ext cx="2160270" cy="0"/>
          </a:xfrm>
          <a:custGeom>
            <a:avLst/>
            <a:gdLst/>
            <a:ahLst/>
            <a:cxnLst/>
            <a:rect l="l" t="t" r="r" b="b"/>
            <a:pathLst>
              <a:path w="2160270">
                <a:moveTo>
                  <a:pt x="0" y="0"/>
                </a:moveTo>
                <a:lnTo>
                  <a:pt x="2160003" y="0"/>
                </a:lnTo>
              </a:path>
            </a:pathLst>
          </a:custGeom>
          <a:ln w="6324">
            <a:solidFill>
              <a:srgbClr val="00B4D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81110" y="2771252"/>
            <a:ext cx="7981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solidFill>
                  <a:srgbClr val="7F7F7F"/>
                </a:solidFill>
                <a:latin typeface="Arial MT"/>
                <a:cs typeface="Arial MT"/>
              </a:rPr>
              <a:t>January</a:t>
            </a:r>
            <a:r>
              <a:rPr sz="1100" spc="-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7F7F7F"/>
                </a:solidFill>
                <a:latin typeface="Arial MT"/>
                <a:cs typeface="Arial MT"/>
              </a:rPr>
              <a:t>2026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Problem</a:t>
            </a:r>
            <a:r>
              <a:rPr spc="-35" dirty="0"/>
              <a:t> </a:t>
            </a:r>
            <a:r>
              <a:rPr spc="-3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956219"/>
            <a:ext cx="10242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00B4DC"/>
                </a:solidFill>
                <a:latin typeface="Arial"/>
                <a:cs typeface="Arial"/>
              </a:rPr>
              <a:t>What</a:t>
            </a:r>
            <a:r>
              <a:rPr sz="1100" b="1" spc="60" dirty="0">
                <a:solidFill>
                  <a:srgbClr val="00B4DC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00B4DC"/>
                </a:solidFill>
                <a:latin typeface="Arial"/>
                <a:cs typeface="Arial"/>
              </a:rPr>
              <a:t>is</a:t>
            </a:r>
            <a:r>
              <a:rPr sz="1100" b="1" spc="55" dirty="0">
                <a:solidFill>
                  <a:srgbClr val="00B4DC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B4DC"/>
                </a:solidFill>
                <a:latin typeface="Arial"/>
                <a:cs typeface="Arial"/>
              </a:rPr>
              <a:t>DDoS?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384" y="1357706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08228" y="1274253"/>
            <a:ext cx="2239010" cy="11664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55" dirty="0">
                <a:latin typeface="Arial MT"/>
                <a:cs typeface="Arial MT"/>
              </a:rPr>
              <a:t>Exhausts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target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75" dirty="0">
                <a:latin typeface="Arial MT"/>
                <a:cs typeface="Arial MT"/>
              </a:rPr>
              <a:t>resources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(bandwidth, </a:t>
            </a:r>
            <a:r>
              <a:rPr sz="1100" spc="-20" dirty="0">
                <a:latin typeface="Arial MT"/>
                <a:cs typeface="Arial MT"/>
              </a:rPr>
              <a:t>CPU)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70" dirty="0">
                <a:latin typeface="Arial MT"/>
                <a:cs typeface="Arial MT"/>
              </a:rPr>
              <a:t>Makes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75" dirty="0">
                <a:latin typeface="Arial MT"/>
                <a:cs typeface="Arial MT"/>
              </a:rPr>
              <a:t>services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unavailable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users</a:t>
            </a:r>
            <a:endParaRPr sz="1100">
              <a:latin typeface="Arial MT"/>
              <a:cs typeface="Arial MT"/>
            </a:endParaRPr>
          </a:p>
          <a:p>
            <a:pPr marL="12700" marR="352425">
              <a:lnSpc>
                <a:spcPct val="102600"/>
              </a:lnSpc>
              <a:spcBef>
                <a:spcPts val="300"/>
              </a:spcBef>
            </a:pPr>
            <a:r>
              <a:rPr sz="1100" spc="-25" dirty="0">
                <a:latin typeface="Arial MT"/>
                <a:cs typeface="Arial MT"/>
              </a:rPr>
              <a:t>Modern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attacks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are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multi-</a:t>
            </a:r>
            <a:r>
              <a:rPr sz="1100" spc="-20" dirty="0">
                <a:latin typeface="Arial MT"/>
                <a:cs typeface="Arial MT"/>
              </a:rPr>
              <a:t>vector </a:t>
            </a:r>
            <a:r>
              <a:rPr sz="1100" spc="-10" dirty="0">
                <a:latin typeface="Arial MT"/>
                <a:cs typeface="Arial MT"/>
              </a:rPr>
              <a:t>campaigns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spc="-20" dirty="0">
                <a:latin typeface="Arial MT"/>
                <a:cs typeface="Arial MT"/>
              </a:rPr>
              <a:t>Traditional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IDS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often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fail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6384" y="1739811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6384" y="1949843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6384" y="2331948"/>
            <a:ext cx="65265" cy="65265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132581" y="1099870"/>
            <a:ext cx="2434590" cy="198755"/>
          </a:xfrm>
          <a:custGeom>
            <a:avLst/>
            <a:gdLst/>
            <a:ahLst/>
            <a:cxnLst/>
            <a:rect l="l" t="t" r="r" b="b"/>
            <a:pathLst>
              <a:path w="2434590" h="198755">
                <a:moveTo>
                  <a:pt x="2383613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434414" y="198367"/>
                </a:lnTo>
                <a:lnTo>
                  <a:pt x="2434414" y="50800"/>
                </a:lnTo>
                <a:lnTo>
                  <a:pt x="2430405" y="31075"/>
                </a:lnTo>
                <a:lnTo>
                  <a:pt x="2419491" y="14922"/>
                </a:lnTo>
                <a:lnTo>
                  <a:pt x="2403338" y="4008"/>
                </a:lnTo>
                <a:lnTo>
                  <a:pt x="2383613" y="0"/>
                </a:lnTo>
                <a:close/>
              </a:path>
            </a:pathLst>
          </a:custGeom>
          <a:solidFill>
            <a:srgbClr val="F49E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183382" y="1128318"/>
            <a:ext cx="93853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Challenges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32581" y="1285582"/>
            <a:ext cx="2434590" cy="1383479"/>
            <a:chOff x="3132581" y="1285582"/>
            <a:chExt cx="2434590" cy="1383479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32581" y="1285582"/>
              <a:ext cx="2434414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32581" y="1329846"/>
              <a:ext cx="2434590" cy="1339215"/>
            </a:xfrm>
            <a:custGeom>
              <a:avLst/>
              <a:gdLst/>
              <a:ahLst/>
              <a:cxnLst/>
              <a:rect l="l" t="t" r="r" b="b"/>
              <a:pathLst>
                <a:path w="2434590" h="1339214">
                  <a:moveTo>
                    <a:pt x="2434414" y="0"/>
                  </a:moveTo>
                  <a:lnTo>
                    <a:pt x="0" y="0"/>
                  </a:lnTo>
                  <a:lnTo>
                    <a:pt x="0" y="1288131"/>
                  </a:lnTo>
                  <a:lnTo>
                    <a:pt x="4008" y="1307856"/>
                  </a:lnTo>
                  <a:lnTo>
                    <a:pt x="14922" y="1324009"/>
                  </a:lnTo>
                  <a:lnTo>
                    <a:pt x="31075" y="1334923"/>
                  </a:lnTo>
                  <a:lnTo>
                    <a:pt x="50800" y="1338932"/>
                  </a:lnTo>
                  <a:lnTo>
                    <a:pt x="2383613" y="1338932"/>
                  </a:lnTo>
                  <a:lnTo>
                    <a:pt x="2403338" y="1334923"/>
                  </a:lnTo>
                  <a:lnTo>
                    <a:pt x="2419491" y="1324009"/>
                  </a:lnTo>
                  <a:lnTo>
                    <a:pt x="2430405" y="1307856"/>
                  </a:lnTo>
                  <a:lnTo>
                    <a:pt x="2434414" y="1288131"/>
                  </a:lnTo>
                  <a:lnTo>
                    <a:pt x="2434414" y="0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183382" y="1280602"/>
            <a:ext cx="2434590" cy="135763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4"/>
              </a:spcBef>
            </a:pPr>
            <a:r>
              <a:rPr sz="1100" b="1" spc="-70" dirty="0">
                <a:solidFill>
                  <a:srgbClr val="1E283A"/>
                </a:solidFill>
                <a:latin typeface="Arial"/>
                <a:cs typeface="Arial"/>
              </a:rPr>
              <a:t>Class</a:t>
            </a:r>
            <a:r>
              <a:rPr sz="1100" b="1" spc="30" dirty="0">
                <a:solidFill>
                  <a:srgbClr val="1E283A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E283A"/>
                </a:solidFill>
                <a:latin typeface="Arial"/>
                <a:cs typeface="Arial"/>
              </a:rPr>
              <a:t>Imbalance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000" spc="-30" dirty="0">
                <a:solidFill>
                  <a:srgbClr val="1E283A"/>
                </a:solidFill>
                <a:latin typeface="Arial MT"/>
                <a:cs typeface="Arial MT"/>
              </a:rPr>
              <a:t>176:1</a:t>
            </a:r>
            <a:r>
              <a:rPr sz="1000" spc="-10" dirty="0">
                <a:solidFill>
                  <a:srgbClr val="1E283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E283A"/>
                </a:solidFill>
                <a:latin typeface="Arial MT"/>
                <a:cs typeface="Arial MT"/>
              </a:rPr>
              <a:t>ratio</a:t>
            </a:r>
            <a:r>
              <a:rPr sz="1000" spc="-10" dirty="0">
                <a:solidFill>
                  <a:srgbClr val="1E283A"/>
                </a:solidFill>
                <a:latin typeface="Arial MT"/>
                <a:cs typeface="Arial MT"/>
              </a:rPr>
              <a:t> </a:t>
            </a:r>
            <a:r>
              <a:rPr sz="1000" spc="-50" dirty="0">
                <a:solidFill>
                  <a:srgbClr val="1E283A"/>
                </a:solidFill>
                <a:latin typeface="Arial MT"/>
                <a:cs typeface="Arial MT"/>
              </a:rPr>
              <a:t>between</a:t>
            </a:r>
            <a:r>
              <a:rPr sz="1000" spc="-5" dirty="0">
                <a:solidFill>
                  <a:srgbClr val="1E283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E283A"/>
                </a:solidFill>
                <a:latin typeface="Arial MT"/>
                <a:cs typeface="Arial MT"/>
              </a:rPr>
              <a:t>classes</a:t>
            </a:r>
            <a:endParaRPr sz="1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sz="1100" b="1" dirty="0">
                <a:solidFill>
                  <a:srgbClr val="1E283A"/>
                </a:solidFill>
                <a:latin typeface="Arial"/>
                <a:cs typeface="Arial"/>
              </a:rPr>
              <a:t>High</a:t>
            </a:r>
            <a:r>
              <a:rPr sz="1100" b="1" spc="-10" dirty="0">
                <a:solidFill>
                  <a:srgbClr val="1E283A"/>
                </a:solidFill>
                <a:latin typeface="Arial"/>
                <a:cs typeface="Arial"/>
              </a:rPr>
              <a:t> Dimensionality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000" dirty="0">
                <a:solidFill>
                  <a:srgbClr val="1E283A"/>
                </a:solidFill>
                <a:latin typeface="Arial MT"/>
                <a:cs typeface="Arial MT"/>
              </a:rPr>
              <a:t>88</a:t>
            </a:r>
            <a:r>
              <a:rPr sz="1000" spc="-40" dirty="0">
                <a:solidFill>
                  <a:srgbClr val="1E283A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1E283A"/>
                </a:solidFill>
                <a:latin typeface="Arial MT"/>
                <a:cs typeface="Arial MT"/>
              </a:rPr>
              <a:t>original</a:t>
            </a:r>
            <a:r>
              <a:rPr sz="1000" spc="-35" dirty="0">
                <a:solidFill>
                  <a:srgbClr val="1E283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E283A"/>
                </a:solidFill>
                <a:latin typeface="Arial MT"/>
                <a:cs typeface="Arial MT"/>
              </a:rPr>
              <a:t>features</a:t>
            </a:r>
            <a:endParaRPr sz="1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sz="1100" b="1" spc="-20" dirty="0">
                <a:solidFill>
                  <a:srgbClr val="1E283A"/>
                </a:solidFill>
                <a:latin typeface="Arial"/>
                <a:cs typeface="Arial"/>
              </a:rPr>
              <a:t>Real-</a:t>
            </a:r>
            <a:r>
              <a:rPr sz="1100" b="1" dirty="0">
                <a:solidFill>
                  <a:srgbClr val="1E283A"/>
                </a:solidFill>
                <a:latin typeface="Arial"/>
                <a:cs typeface="Arial"/>
              </a:rPr>
              <a:t>Time</a:t>
            </a:r>
            <a:r>
              <a:rPr sz="1100" b="1" spc="85" dirty="0">
                <a:solidFill>
                  <a:srgbClr val="1E283A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E283A"/>
                </a:solidFill>
                <a:latin typeface="Arial"/>
                <a:cs typeface="Arial"/>
              </a:rPr>
              <a:t>Constraints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000" spc="-20" dirty="0">
                <a:solidFill>
                  <a:srgbClr val="1E283A"/>
                </a:solidFill>
                <a:latin typeface="Arial MT"/>
                <a:cs typeface="Arial MT"/>
              </a:rPr>
              <a:t>Low </a:t>
            </a:r>
            <a:r>
              <a:rPr sz="1000" spc="-25" dirty="0">
                <a:solidFill>
                  <a:srgbClr val="1E283A"/>
                </a:solidFill>
                <a:latin typeface="Arial MT"/>
                <a:cs typeface="Arial MT"/>
              </a:rPr>
              <a:t>latency</a:t>
            </a:r>
            <a:r>
              <a:rPr sz="1000" spc="-20" dirty="0">
                <a:solidFill>
                  <a:srgbClr val="1E283A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E283A"/>
                </a:solidFill>
                <a:latin typeface="Arial MT"/>
                <a:cs typeface="Arial MT"/>
              </a:rPr>
              <a:t>required</a:t>
            </a:r>
            <a:endParaRPr sz="10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39874"/>
            <a:ext cx="18097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Dataset:</a:t>
            </a:r>
            <a:r>
              <a:rPr spc="30" dirty="0"/>
              <a:t> </a:t>
            </a:r>
            <a:r>
              <a:rPr spc="-10" dirty="0"/>
              <a:t>CICDDoS2019</a:t>
            </a:r>
          </a:p>
        </p:txBody>
      </p:sp>
      <p:sp>
        <p:nvSpPr>
          <p:cNvPr id="3" name="object 3"/>
          <p:cNvSpPr/>
          <p:nvPr/>
        </p:nvSpPr>
        <p:spPr>
          <a:xfrm>
            <a:off x="648004" y="1031707"/>
            <a:ext cx="1008380" cy="540385"/>
          </a:xfrm>
          <a:custGeom>
            <a:avLst/>
            <a:gdLst/>
            <a:ahLst/>
            <a:cxnLst/>
            <a:rect l="l" t="t" r="r" b="b"/>
            <a:pathLst>
              <a:path w="1008380" h="540385">
                <a:moveTo>
                  <a:pt x="944749" y="0"/>
                </a:moveTo>
                <a:lnTo>
                  <a:pt x="63263" y="0"/>
                </a:lnTo>
                <a:lnTo>
                  <a:pt x="38638" y="4971"/>
                </a:lnTo>
                <a:lnTo>
                  <a:pt x="18529" y="18529"/>
                </a:lnTo>
                <a:lnTo>
                  <a:pt x="4971" y="38638"/>
                </a:lnTo>
                <a:lnTo>
                  <a:pt x="0" y="63263"/>
                </a:lnTo>
                <a:lnTo>
                  <a:pt x="0" y="476743"/>
                </a:lnTo>
                <a:lnTo>
                  <a:pt x="4971" y="501368"/>
                </a:lnTo>
                <a:lnTo>
                  <a:pt x="18529" y="521477"/>
                </a:lnTo>
                <a:lnTo>
                  <a:pt x="38638" y="535035"/>
                </a:lnTo>
                <a:lnTo>
                  <a:pt x="63263" y="540006"/>
                </a:lnTo>
                <a:lnTo>
                  <a:pt x="944749" y="540006"/>
                </a:lnTo>
                <a:lnTo>
                  <a:pt x="969375" y="535035"/>
                </a:lnTo>
                <a:lnTo>
                  <a:pt x="989484" y="521477"/>
                </a:lnTo>
                <a:lnTo>
                  <a:pt x="1003041" y="501368"/>
                </a:lnTo>
                <a:lnTo>
                  <a:pt x="1008013" y="476743"/>
                </a:lnTo>
                <a:lnTo>
                  <a:pt x="1008013" y="63263"/>
                </a:lnTo>
                <a:lnTo>
                  <a:pt x="1003041" y="38638"/>
                </a:lnTo>
                <a:lnTo>
                  <a:pt x="989484" y="18529"/>
                </a:lnTo>
                <a:lnTo>
                  <a:pt x="969375" y="4971"/>
                </a:lnTo>
                <a:lnTo>
                  <a:pt x="944749" y="0"/>
                </a:lnTo>
                <a:close/>
              </a:path>
            </a:pathLst>
          </a:custGeom>
          <a:solidFill>
            <a:srgbClr val="00B4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4463" y="1025805"/>
            <a:ext cx="775335" cy="47180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484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431,320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Total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65" dirty="0">
                <a:solidFill>
                  <a:srgbClr val="FFFFFF"/>
                </a:solidFill>
                <a:latin typeface="Arial MT"/>
                <a:cs typeface="Arial MT"/>
              </a:rPr>
              <a:t>Samples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00018" y="1031707"/>
            <a:ext cx="1008380" cy="540385"/>
          </a:xfrm>
          <a:custGeom>
            <a:avLst/>
            <a:gdLst/>
            <a:ahLst/>
            <a:cxnLst/>
            <a:rect l="l" t="t" r="r" b="b"/>
            <a:pathLst>
              <a:path w="1008380" h="540385">
                <a:moveTo>
                  <a:pt x="944750" y="0"/>
                </a:moveTo>
                <a:lnTo>
                  <a:pt x="63263" y="0"/>
                </a:lnTo>
                <a:lnTo>
                  <a:pt x="38638" y="4971"/>
                </a:lnTo>
                <a:lnTo>
                  <a:pt x="18529" y="18529"/>
                </a:lnTo>
                <a:lnTo>
                  <a:pt x="4971" y="38638"/>
                </a:lnTo>
                <a:lnTo>
                  <a:pt x="0" y="63263"/>
                </a:lnTo>
                <a:lnTo>
                  <a:pt x="0" y="476743"/>
                </a:lnTo>
                <a:lnTo>
                  <a:pt x="4971" y="501368"/>
                </a:lnTo>
                <a:lnTo>
                  <a:pt x="18529" y="521477"/>
                </a:lnTo>
                <a:lnTo>
                  <a:pt x="38638" y="535035"/>
                </a:lnTo>
                <a:lnTo>
                  <a:pt x="63263" y="540006"/>
                </a:lnTo>
                <a:lnTo>
                  <a:pt x="944750" y="540006"/>
                </a:lnTo>
                <a:lnTo>
                  <a:pt x="969375" y="535035"/>
                </a:lnTo>
                <a:lnTo>
                  <a:pt x="989484" y="521477"/>
                </a:lnTo>
                <a:lnTo>
                  <a:pt x="1003042" y="501368"/>
                </a:lnTo>
                <a:lnTo>
                  <a:pt x="1008013" y="476743"/>
                </a:lnTo>
                <a:lnTo>
                  <a:pt x="1008013" y="63263"/>
                </a:lnTo>
                <a:lnTo>
                  <a:pt x="1003042" y="38638"/>
                </a:lnTo>
                <a:lnTo>
                  <a:pt x="989484" y="18529"/>
                </a:lnTo>
                <a:lnTo>
                  <a:pt x="969375" y="4971"/>
                </a:lnTo>
                <a:lnTo>
                  <a:pt x="944750" y="0"/>
                </a:lnTo>
                <a:close/>
              </a:path>
            </a:pathLst>
          </a:custGeom>
          <a:solidFill>
            <a:srgbClr val="7B39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69007" y="1031542"/>
            <a:ext cx="469900" cy="47815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52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1000" spc="-40" dirty="0">
                <a:solidFill>
                  <a:srgbClr val="FFFFFF"/>
                </a:solidFill>
                <a:latin typeface="Arial MT"/>
                <a:cs typeface="Arial MT"/>
              </a:rPr>
              <a:t>Features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52031" y="1031707"/>
            <a:ext cx="1008380" cy="540385"/>
          </a:xfrm>
          <a:custGeom>
            <a:avLst/>
            <a:gdLst/>
            <a:ahLst/>
            <a:cxnLst/>
            <a:rect l="l" t="t" r="r" b="b"/>
            <a:pathLst>
              <a:path w="1008379" h="540385">
                <a:moveTo>
                  <a:pt x="944750" y="0"/>
                </a:moveTo>
                <a:lnTo>
                  <a:pt x="63263" y="0"/>
                </a:lnTo>
                <a:lnTo>
                  <a:pt x="38638" y="4971"/>
                </a:lnTo>
                <a:lnTo>
                  <a:pt x="18529" y="18529"/>
                </a:lnTo>
                <a:lnTo>
                  <a:pt x="4971" y="38638"/>
                </a:lnTo>
                <a:lnTo>
                  <a:pt x="0" y="63263"/>
                </a:lnTo>
                <a:lnTo>
                  <a:pt x="0" y="476743"/>
                </a:lnTo>
                <a:lnTo>
                  <a:pt x="4971" y="501368"/>
                </a:lnTo>
                <a:lnTo>
                  <a:pt x="18529" y="521477"/>
                </a:lnTo>
                <a:lnTo>
                  <a:pt x="38638" y="535035"/>
                </a:lnTo>
                <a:lnTo>
                  <a:pt x="63263" y="540006"/>
                </a:lnTo>
                <a:lnTo>
                  <a:pt x="944750" y="540006"/>
                </a:lnTo>
                <a:lnTo>
                  <a:pt x="969375" y="535035"/>
                </a:lnTo>
                <a:lnTo>
                  <a:pt x="989484" y="521477"/>
                </a:lnTo>
                <a:lnTo>
                  <a:pt x="1003042" y="501368"/>
                </a:lnTo>
                <a:lnTo>
                  <a:pt x="1008013" y="476743"/>
                </a:lnTo>
                <a:lnTo>
                  <a:pt x="1008013" y="63263"/>
                </a:lnTo>
                <a:lnTo>
                  <a:pt x="1003042" y="38638"/>
                </a:lnTo>
                <a:lnTo>
                  <a:pt x="989484" y="18529"/>
                </a:lnTo>
                <a:lnTo>
                  <a:pt x="969375" y="4971"/>
                </a:lnTo>
                <a:lnTo>
                  <a:pt x="944750" y="0"/>
                </a:lnTo>
                <a:close/>
              </a:path>
            </a:pathLst>
          </a:custGeom>
          <a:solidFill>
            <a:srgbClr val="10B9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256495" y="1031542"/>
            <a:ext cx="399415" cy="47815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1000" spc="-75" dirty="0">
                <a:solidFill>
                  <a:srgbClr val="FFFFFF"/>
                </a:solidFill>
                <a:latin typeface="Arial MT"/>
                <a:cs typeface="Arial MT"/>
              </a:rPr>
              <a:t>Classes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104049" y="1031707"/>
            <a:ext cx="1008380" cy="540385"/>
          </a:xfrm>
          <a:custGeom>
            <a:avLst/>
            <a:gdLst/>
            <a:ahLst/>
            <a:cxnLst/>
            <a:rect l="l" t="t" r="r" b="b"/>
            <a:pathLst>
              <a:path w="1008379" h="540385">
                <a:moveTo>
                  <a:pt x="944744" y="0"/>
                </a:moveTo>
                <a:lnTo>
                  <a:pt x="63263" y="0"/>
                </a:lnTo>
                <a:lnTo>
                  <a:pt x="38638" y="4971"/>
                </a:lnTo>
                <a:lnTo>
                  <a:pt x="18529" y="18529"/>
                </a:lnTo>
                <a:lnTo>
                  <a:pt x="4971" y="38638"/>
                </a:lnTo>
                <a:lnTo>
                  <a:pt x="0" y="63263"/>
                </a:lnTo>
                <a:lnTo>
                  <a:pt x="0" y="476743"/>
                </a:lnTo>
                <a:lnTo>
                  <a:pt x="4971" y="501368"/>
                </a:lnTo>
                <a:lnTo>
                  <a:pt x="18529" y="521477"/>
                </a:lnTo>
                <a:lnTo>
                  <a:pt x="38638" y="535035"/>
                </a:lnTo>
                <a:lnTo>
                  <a:pt x="63263" y="540006"/>
                </a:lnTo>
                <a:lnTo>
                  <a:pt x="944744" y="540006"/>
                </a:lnTo>
                <a:lnTo>
                  <a:pt x="969369" y="535035"/>
                </a:lnTo>
                <a:lnTo>
                  <a:pt x="989478" y="521477"/>
                </a:lnTo>
                <a:lnTo>
                  <a:pt x="1003036" y="501368"/>
                </a:lnTo>
                <a:lnTo>
                  <a:pt x="1008008" y="476743"/>
                </a:lnTo>
                <a:lnTo>
                  <a:pt x="1008008" y="63263"/>
                </a:lnTo>
                <a:lnTo>
                  <a:pt x="1003036" y="38638"/>
                </a:lnTo>
                <a:lnTo>
                  <a:pt x="989478" y="18529"/>
                </a:lnTo>
                <a:lnTo>
                  <a:pt x="969369" y="4971"/>
                </a:lnTo>
                <a:lnTo>
                  <a:pt x="944744" y="0"/>
                </a:lnTo>
                <a:close/>
              </a:path>
            </a:pathLst>
          </a:custGeom>
          <a:solidFill>
            <a:srgbClr val="F49E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321492" y="1031542"/>
            <a:ext cx="573405" cy="47815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176.9x</a:t>
            </a:r>
            <a:endParaRPr sz="1400">
              <a:latin typeface="Arial"/>
              <a:cs typeface="Arial"/>
            </a:endParaRPr>
          </a:p>
          <a:p>
            <a:pPr marL="20955">
              <a:lnSpc>
                <a:spcPct val="100000"/>
              </a:lnSpc>
              <a:spcBef>
                <a:spcPts val="270"/>
              </a:spcBef>
            </a:pPr>
            <a:r>
              <a:rPr sz="1000" spc="-40" dirty="0">
                <a:solidFill>
                  <a:srgbClr val="FFFFFF"/>
                </a:solidFill>
                <a:latin typeface="Arial MT"/>
                <a:cs typeface="Arial MT"/>
              </a:rPr>
              <a:t>Imbalance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8437" y="1994419"/>
            <a:ext cx="2485390" cy="855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latin typeface="Arial"/>
                <a:cs typeface="Arial"/>
              </a:rPr>
              <a:t>Attack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Categories: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1100" b="1" spc="-10" dirty="0">
                <a:solidFill>
                  <a:srgbClr val="00B4DC"/>
                </a:solidFill>
                <a:latin typeface="Arial"/>
                <a:cs typeface="Arial"/>
              </a:rPr>
              <a:t>Reflection/Amplification: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-10" dirty="0">
                <a:latin typeface="Arial MT"/>
                <a:cs typeface="Arial MT"/>
              </a:rPr>
              <a:t>DNS,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LDAP,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MSSQL,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NTP,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NetBIOS,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SNMP,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000" spc="-20" dirty="0">
                <a:latin typeface="Arial MT"/>
                <a:cs typeface="Arial MT"/>
              </a:rPr>
              <a:t>Portmap, TFTP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97873" y="2289592"/>
            <a:ext cx="1973580" cy="38100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sz="1100" b="1" spc="-20" dirty="0">
                <a:solidFill>
                  <a:srgbClr val="7B39EC"/>
                </a:solidFill>
                <a:latin typeface="Arial"/>
                <a:cs typeface="Arial"/>
              </a:rPr>
              <a:t>Flood</a:t>
            </a:r>
            <a:r>
              <a:rPr sz="1100" b="1" spc="-15" dirty="0">
                <a:solidFill>
                  <a:srgbClr val="7B39EC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7B39EC"/>
                </a:solidFill>
                <a:latin typeface="Arial"/>
                <a:cs typeface="Arial"/>
              </a:rPr>
              <a:t>Attacks: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-30" dirty="0">
                <a:latin typeface="Arial MT"/>
                <a:cs typeface="Arial MT"/>
              </a:rPr>
              <a:t>Syn,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UDP,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UDPLag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180" dirty="0">
                <a:latin typeface="Arial MT"/>
                <a:cs typeface="Arial MT"/>
              </a:rPr>
              <a:t>+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Benign</a:t>
            </a:r>
            <a:r>
              <a:rPr sz="1000" spc="-10" dirty="0">
                <a:latin typeface="Arial MT"/>
                <a:cs typeface="Arial MT"/>
              </a:rPr>
              <a:t> traffic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39874"/>
            <a:ext cx="13392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Class</a:t>
            </a:r>
            <a:r>
              <a:rPr sz="14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Distribution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5699" y="739876"/>
            <a:ext cx="3977732" cy="227591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39874"/>
            <a:ext cx="23323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Class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Tahoma"/>
                <a:cs typeface="Tahoma"/>
              </a:rPr>
              <a:t>Imbalance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Challenge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435" y="745863"/>
            <a:ext cx="4672510" cy="225587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39874"/>
            <a:ext cx="21069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Data</a:t>
            </a:r>
            <a:r>
              <a:rPr spc="-10" dirty="0"/>
              <a:t> </a:t>
            </a:r>
            <a:r>
              <a:rPr spc="-45" dirty="0"/>
              <a:t>Preprocessing</a:t>
            </a:r>
            <a:r>
              <a:rPr spc="-5" dirty="0"/>
              <a:t> </a:t>
            </a:r>
            <a:r>
              <a:rPr spc="-10" dirty="0"/>
              <a:t>Pipeline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446" y="676385"/>
            <a:ext cx="4130513" cy="120986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0555" y="2617749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0555" y="2826804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0555" y="3035858"/>
            <a:ext cx="65265" cy="652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75297" y="2265212"/>
            <a:ext cx="3541395" cy="87693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1100" b="1" spc="-20" dirty="0">
                <a:latin typeface="Arial"/>
                <a:cs typeface="Arial"/>
              </a:rPr>
              <a:t>Feature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Selection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Techniques: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ts val="1650"/>
              </a:lnSpc>
              <a:spcBef>
                <a:spcPts val="70"/>
              </a:spcBef>
            </a:pPr>
            <a:r>
              <a:rPr sz="1000" b="1" spc="-25" dirty="0">
                <a:latin typeface="Arial"/>
                <a:cs typeface="Arial"/>
              </a:rPr>
              <a:t>Variance</a:t>
            </a:r>
            <a:r>
              <a:rPr sz="1000" b="1" spc="40" dirty="0">
                <a:latin typeface="Arial"/>
                <a:cs typeface="Arial"/>
              </a:rPr>
              <a:t> </a:t>
            </a:r>
            <a:r>
              <a:rPr sz="1000" b="1" spc="-40" dirty="0">
                <a:latin typeface="Arial"/>
                <a:cs typeface="Arial"/>
              </a:rPr>
              <a:t>Thresholding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–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65" dirty="0">
                <a:latin typeface="Arial MT"/>
                <a:cs typeface="Arial MT"/>
              </a:rPr>
              <a:t>Remove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zero-</a:t>
            </a:r>
            <a:r>
              <a:rPr sz="1000" spc="-45" dirty="0">
                <a:latin typeface="Arial MT"/>
                <a:cs typeface="Arial MT"/>
              </a:rPr>
              <a:t>variance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features </a:t>
            </a:r>
            <a:r>
              <a:rPr sz="1000" b="1" spc="-25" dirty="0">
                <a:latin typeface="Arial"/>
                <a:cs typeface="Arial"/>
              </a:rPr>
              <a:t>Correlation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Analysis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–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65" dirty="0">
                <a:latin typeface="Arial MT"/>
                <a:cs typeface="Arial MT"/>
              </a:rPr>
              <a:t>Remove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features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with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i="1" dirty="0">
                <a:latin typeface="Arial"/>
                <a:cs typeface="Arial"/>
              </a:rPr>
              <a:t>r</a:t>
            </a:r>
            <a:r>
              <a:rPr sz="1000" i="1" spc="70" dirty="0">
                <a:latin typeface="Arial"/>
                <a:cs typeface="Arial"/>
              </a:rPr>
              <a:t> </a:t>
            </a:r>
            <a:r>
              <a:rPr sz="1000" i="1" spc="-50" dirty="0">
                <a:latin typeface="Verdana"/>
                <a:cs typeface="Verdana"/>
              </a:rPr>
              <a:t>&gt;</a:t>
            </a:r>
            <a:r>
              <a:rPr sz="1000" i="1" spc="-75" dirty="0">
                <a:latin typeface="Verdana"/>
                <a:cs typeface="Verdana"/>
              </a:rPr>
              <a:t> </a:t>
            </a:r>
            <a:r>
              <a:rPr sz="1000" spc="-20" dirty="0">
                <a:latin typeface="Arial MT"/>
                <a:cs typeface="Arial MT"/>
              </a:rPr>
              <a:t>0</a:t>
            </a:r>
            <a:r>
              <a:rPr sz="1000" i="1" spc="-20" dirty="0">
                <a:latin typeface="Verdana"/>
                <a:cs typeface="Verdana"/>
              </a:rPr>
              <a:t>.</a:t>
            </a:r>
            <a:r>
              <a:rPr sz="1000" spc="-20" dirty="0">
                <a:latin typeface="Arial MT"/>
                <a:cs typeface="Arial MT"/>
              </a:rPr>
              <a:t>95 </a:t>
            </a:r>
            <a:r>
              <a:rPr sz="1000" b="1" spc="-35" dirty="0">
                <a:latin typeface="Arial"/>
                <a:cs typeface="Arial"/>
              </a:rPr>
              <a:t>Random</a:t>
            </a:r>
            <a:r>
              <a:rPr sz="1000" b="1" spc="10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Forest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Importance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–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Rank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select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top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features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39874"/>
            <a:ext cx="13423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Models</a:t>
            </a:r>
            <a:r>
              <a:rPr spc="-75" dirty="0"/>
              <a:t> </a:t>
            </a:r>
            <a:r>
              <a:rPr spc="-30" dirty="0"/>
              <a:t>Evaluated</a:t>
            </a:r>
          </a:p>
        </p:txBody>
      </p:sp>
      <p:sp>
        <p:nvSpPr>
          <p:cNvPr id="3" name="object 3"/>
          <p:cNvSpPr/>
          <p:nvPr/>
        </p:nvSpPr>
        <p:spPr>
          <a:xfrm>
            <a:off x="492251" y="888936"/>
            <a:ext cx="4775835" cy="0"/>
          </a:xfrm>
          <a:custGeom>
            <a:avLst/>
            <a:gdLst/>
            <a:ahLst/>
            <a:cxnLst/>
            <a:rect l="l" t="t" r="r" b="b"/>
            <a:pathLst>
              <a:path w="4775835">
                <a:moveTo>
                  <a:pt x="0" y="0"/>
                </a:moveTo>
                <a:lnTo>
                  <a:pt x="4775492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55472" y="903705"/>
            <a:ext cx="5918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0" dirty="0">
                <a:latin typeface="Arial"/>
                <a:cs typeface="Arial"/>
              </a:rPr>
              <a:t>Category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7281" y="903705"/>
            <a:ext cx="483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30" dirty="0">
                <a:latin typeface="Arial"/>
                <a:cs typeface="Arial"/>
              </a:rPr>
              <a:t>Models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19192" y="903705"/>
            <a:ext cx="3365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25" dirty="0">
                <a:latin typeface="Arial"/>
                <a:cs typeface="Arial"/>
              </a:rPr>
              <a:t>Type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2251" y="1134668"/>
            <a:ext cx="4775835" cy="0"/>
          </a:xfrm>
          <a:custGeom>
            <a:avLst/>
            <a:gdLst/>
            <a:ahLst/>
            <a:cxnLst/>
            <a:rect l="l" t="t" r="r" b="b"/>
            <a:pathLst>
              <a:path w="4775835">
                <a:moveTo>
                  <a:pt x="0" y="0"/>
                </a:moveTo>
                <a:lnTo>
                  <a:pt x="4775492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92251" y="1178166"/>
          <a:ext cx="1231900" cy="10674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6375">
                <a:tc>
                  <a:txBody>
                    <a:bodyPr/>
                    <a:lstStyle/>
                    <a:p>
                      <a:pPr marL="75565">
                        <a:lnSpc>
                          <a:spcPts val="1170"/>
                        </a:lnSpc>
                      </a:pPr>
                      <a:r>
                        <a:rPr sz="1100" b="1" spc="-10" dirty="0">
                          <a:solidFill>
                            <a:srgbClr val="00B4DC"/>
                          </a:solidFill>
                          <a:latin typeface="Arial"/>
                          <a:cs typeface="Arial"/>
                        </a:rPr>
                        <a:t>Baseline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384">
                <a:tc>
                  <a:txBody>
                    <a:bodyPr/>
                    <a:lstStyle/>
                    <a:p>
                      <a:pPr marL="75565" marR="67945">
                        <a:lnSpc>
                          <a:spcPct val="102600"/>
                        </a:lnSpc>
                        <a:spcBef>
                          <a:spcPts val="85"/>
                        </a:spcBef>
                      </a:pPr>
                      <a:r>
                        <a:rPr sz="1100" b="1" dirty="0">
                          <a:solidFill>
                            <a:srgbClr val="10B980"/>
                          </a:solidFill>
                          <a:latin typeface="Arial"/>
                          <a:cs typeface="Arial"/>
                        </a:rPr>
                        <a:t>Gradient</a:t>
                      </a:r>
                      <a:r>
                        <a:rPr sz="1100" b="1" spc="295" dirty="0">
                          <a:solidFill>
                            <a:srgbClr val="10B98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30" dirty="0">
                          <a:solidFill>
                            <a:srgbClr val="10B980"/>
                          </a:solidFill>
                          <a:latin typeface="Arial"/>
                          <a:cs typeface="Arial"/>
                        </a:rPr>
                        <a:t>Boost- </a:t>
                      </a:r>
                      <a:r>
                        <a:rPr sz="1100" b="1" spc="-25" dirty="0">
                          <a:solidFill>
                            <a:srgbClr val="10B980"/>
                          </a:solidFill>
                          <a:latin typeface="Arial"/>
                          <a:cs typeface="Arial"/>
                        </a:rPr>
                        <a:t>ing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100" b="1" dirty="0">
                          <a:solidFill>
                            <a:srgbClr val="7B39EC"/>
                          </a:solidFill>
                          <a:latin typeface="Arial"/>
                          <a:cs typeface="Arial"/>
                        </a:rPr>
                        <a:t>Deep</a:t>
                      </a:r>
                      <a:r>
                        <a:rPr sz="1100" b="1" spc="-20" dirty="0">
                          <a:solidFill>
                            <a:srgbClr val="7B39E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7B39EC"/>
                          </a:solidFill>
                          <a:latin typeface="Arial"/>
                          <a:cs typeface="Arial"/>
                        </a:rPr>
                        <a:t>Learning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100" b="1" spc="-10" dirty="0">
                          <a:solidFill>
                            <a:srgbClr val="F49E0B"/>
                          </a:solidFill>
                          <a:latin typeface="Arial"/>
                          <a:cs typeface="Arial"/>
                        </a:rPr>
                        <a:t>Ensemble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5240" marB="0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787296" y="1072271"/>
            <a:ext cx="1862455" cy="5086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4000"/>
              </a:lnSpc>
              <a:spcBef>
                <a:spcPts val="100"/>
              </a:spcBef>
            </a:pPr>
            <a:r>
              <a:rPr sz="1100" spc="-25" dirty="0">
                <a:latin typeface="Arial MT"/>
                <a:cs typeface="Arial MT"/>
              </a:rPr>
              <a:t>Logistic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70" dirty="0">
                <a:latin typeface="Arial MT"/>
                <a:cs typeface="Arial MT"/>
              </a:rPr>
              <a:t>Regression,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KNN </a:t>
            </a:r>
            <a:r>
              <a:rPr sz="1100" spc="-35" dirty="0">
                <a:latin typeface="Arial MT"/>
                <a:cs typeface="Arial MT"/>
              </a:rPr>
              <a:t>XGBoost,</a:t>
            </a:r>
            <a:r>
              <a:rPr sz="1100" spc="-10" dirty="0">
                <a:latin typeface="Arial MT"/>
                <a:cs typeface="Arial MT"/>
              </a:rPr>
              <a:t> LightGBM, </a:t>
            </a:r>
            <a:r>
              <a:rPr sz="1100" spc="-35" dirty="0">
                <a:latin typeface="Arial MT"/>
                <a:cs typeface="Arial MT"/>
              </a:rPr>
              <a:t>CatBoost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19221" y="1072271"/>
            <a:ext cx="1012825" cy="5086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44000"/>
              </a:lnSpc>
              <a:spcBef>
                <a:spcPts val="100"/>
              </a:spcBef>
            </a:pPr>
            <a:r>
              <a:rPr sz="1100" spc="-40" dirty="0">
                <a:latin typeface="Arial MT"/>
                <a:cs typeface="Arial MT"/>
              </a:rPr>
              <a:t>Linear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240" dirty="0">
                <a:latin typeface="Arial MT"/>
                <a:cs typeface="Arial MT"/>
              </a:rPr>
              <a:t>/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Instance </a:t>
            </a:r>
            <a:r>
              <a:rPr sz="1100" spc="-80" dirty="0">
                <a:latin typeface="Arial MT"/>
                <a:cs typeface="Arial MT"/>
              </a:rPr>
              <a:t>Ensemble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Trees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87296" y="1727057"/>
            <a:ext cx="1879600" cy="5086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4000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</a:rPr>
              <a:t>MLP,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DCN,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Transformer,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CVAE </a:t>
            </a:r>
            <a:r>
              <a:rPr sz="1100" spc="-30" dirty="0">
                <a:latin typeface="Arial MT"/>
                <a:cs typeface="Arial MT"/>
              </a:rPr>
              <a:t>Stacking,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Voting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19221" y="1727057"/>
            <a:ext cx="980440" cy="5086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4000"/>
              </a:lnSpc>
              <a:spcBef>
                <a:spcPts val="100"/>
              </a:spcBef>
            </a:pPr>
            <a:r>
              <a:rPr sz="1100" spc="-35" dirty="0">
                <a:latin typeface="Arial MT"/>
                <a:cs typeface="Arial MT"/>
              </a:rPr>
              <a:t>Neural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Networks </a:t>
            </a:r>
            <a:r>
              <a:rPr sz="1100" spc="-45" dirty="0">
                <a:latin typeface="Arial MT"/>
                <a:cs typeface="Arial MT"/>
              </a:rPr>
              <a:t>Meta-</a:t>
            </a:r>
            <a:r>
              <a:rPr sz="1100" spc="-10" dirty="0">
                <a:latin typeface="Arial MT"/>
                <a:cs typeface="Arial MT"/>
              </a:rPr>
              <a:t>learners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92251" y="2276525"/>
            <a:ext cx="4775835" cy="0"/>
          </a:xfrm>
          <a:custGeom>
            <a:avLst/>
            <a:gdLst/>
            <a:ahLst/>
            <a:cxnLst/>
            <a:rect l="l" t="t" r="r" b="b"/>
            <a:pathLst>
              <a:path w="4775835">
                <a:moveTo>
                  <a:pt x="0" y="0"/>
                </a:moveTo>
                <a:lnTo>
                  <a:pt x="4775492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39671" y="2751376"/>
            <a:ext cx="26816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latin typeface="Arial"/>
                <a:cs typeface="Arial"/>
              </a:rPr>
              <a:t>10</a:t>
            </a:r>
            <a:r>
              <a:rPr sz="1200" b="1" spc="70" dirty="0">
                <a:latin typeface="Arial"/>
                <a:cs typeface="Arial"/>
              </a:rPr>
              <a:t> </a:t>
            </a:r>
            <a:r>
              <a:rPr sz="1200" b="1" spc="-50" dirty="0">
                <a:latin typeface="Arial"/>
                <a:cs typeface="Arial"/>
              </a:rPr>
              <a:t>models</a:t>
            </a:r>
            <a:r>
              <a:rPr sz="1200" b="1" spc="30" dirty="0">
                <a:latin typeface="Arial"/>
                <a:cs typeface="Arial"/>
              </a:rPr>
              <a:t> </a:t>
            </a:r>
            <a:r>
              <a:rPr sz="1200" spc="-60" dirty="0">
                <a:latin typeface="Tahoma"/>
                <a:cs typeface="Tahoma"/>
              </a:rPr>
              <a:t>evaluated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across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b="1" dirty="0">
                <a:latin typeface="Arial"/>
                <a:cs typeface="Arial"/>
              </a:rPr>
              <a:t>4</a:t>
            </a:r>
            <a:r>
              <a:rPr sz="1200" b="1" spc="75" dirty="0">
                <a:latin typeface="Arial"/>
                <a:cs typeface="Arial"/>
              </a:rPr>
              <a:t> </a:t>
            </a:r>
            <a:r>
              <a:rPr sz="1200" b="1" spc="-55" dirty="0">
                <a:latin typeface="Arial"/>
                <a:cs typeface="Arial"/>
              </a:rPr>
              <a:t>paradigms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Gradient</a:t>
            </a:r>
            <a:r>
              <a:rPr spc="-80" dirty="0"/>
              <a:t> </a:t>
            </a:r>
            <a:r>
              <a:rPr spc="-10" dirty="0"/>
              <a:t>Boosting:</a:t>
            </a:r>
            <a:r>
              <a:rPr spc="25" dirty="0"/>
              <a:t> </a:t>
            </a:r>
            <a:r>
              <a:rPr spc="-10" dirty="0"/>
              <a:t>XGBoost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8437" y="746110"/>
            <a:ext cx="861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10B980"/>
                </a:solidFill>
                <a:latin typeface="Arial"/>
                <a:cs typeface="Arial"/>
              </a:rPr>
              <a:t>Key</a:t>
            </a:r>
            <a:r>
              <a:rPr sz="1100" b="1" spc="-15" dirty="0">
                <a:solidFill>
                  <a:srgbClr val="10B980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10B980"/>
                </a:solidFill>
                <a:latin typeface="Arial"/>
                <a:cs typeface="Arial"/>
              </a:rPr>
              <a:t>Features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682" y="1147584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25526" y="1020366"/>
            <a:ext cx="1885950" cy="866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spc="-60" dirty="0">
                <a:latin typeface="Arial MT"/>
                <a:cs typeface="Arial MT"/>
              </a:rPr>
              <a:t>Regularized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objective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(L1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+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L2) </a:t>
            </a:r>
            <a:r>
              <a:rPr sz="1100" spc="-70" dirty="0">
                <a:latin typeface="Arial MT"/>
                <a:cs typeface="Arial MT"/>
              </a:rPr>
              <a:t>Scalable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tree-</a:t>
            </a:r>
            <a:r>
              <a:rPr sz="1100" spc="-30" dirty="0">
                <a:latin typeface="Arial MT"/>
                <a:cs typeface="Arial MT"/>
              </a:rPr>
              <a:t>boosting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system </a:t>
            </a:r>
            <a:r>
              <a:rPr sz="1100" spc="-60" dirty="0">
                <a:latin typeface="Arial MT"/>
                <a:cs typeface="Arial MT"/>
              </a:rPr>
              <a:t>Handles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95" dirty="0">
                <a:latin typeface="Arial MT"/>
                <a:cs typeface="Arial MT"/>
              </a:rPr>
              <a:t>sparse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data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efficiently </a:t>
            </a:r>
            <a:r>
              <a:rPr sz="1100" dirty="0">
                <a:latin typeface="Arial MT"/>
                <a:cs typeface="Arial MT"/>
              </a:rPr>
              <a:t>Built-in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cross-</a:t>
            </a:r>
            <a:r>
              <a:rPr sz="1100" spc="-10" dirty="0">
                <a:latin typeface="Arial MT"/>
                <a:cs typeface="Arial MT"/>
              </a:rPr>
              <a:t>validation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682" y="135761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3682" y="1567649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3682" y="1777682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997873" y="746110"/>
            <a:ext cx="8820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0" dirty="0">
                <a:solidFill>
                  <a:srgbClr val="7B39EC"/>
                </a:solidFill>
                <a:latin typeface="Arial"/>
                <a:cs typeface="Arial"/>
              </a:rPr>
              <a:t>Configuration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53118" y="1147584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3369119" y="1212850"/>
            <a:ext cx="43815" cy="0"/>
          </a:xfrm>
          <a:custGeom>
            <a:avLst/>
            <a:gdLst/>
            <a:ahLst/>
            <a:cxnLst/>
            <a:rect l="l" t="t" r="r" b="b"/>
            <a:pathLst>
              <a:path w="43814">
                <a:moveTo>
                  <a:pt x="0" y="0"/>
                </a:moveTo>
                <a:lnTo>
                  <a:pt x="4363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53118" y="1357617"/>
            <a:ext cx="65265" cy="65265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3514597" y="1422882"/>
            <a:ext cx="43815" cy="0"/>
          </a:xfrm>
          <a:custGeom>
            <a:avLst/>
            <a:gdLst/>
            <a:ahLst/>
            <a:cxnLst/>
            <a:rect l="l" t="t" r="r" b="b"/>
            <a:pathLst>
              <a:path w="43814">
                <a:moveTo>
                  <a:pt x="0" y="0"/>
                </a:moveTo>
                <a:lnTo>
                  <a:pt x="4363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53118" y="1567649"/>
            <a:ext cx="65265" cy="65265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3878275" y="1632915"/>
            <a:ext cx="43815" cy="0"/>
          </a:xfrm>
          <a:custGeom>
            <a:avLst/>
            <a:gdLst/>
            <a:ahLst/>
            <a:cxnLst/>
            <a:rect l="l" t="t" r="r" b="b"/>
            <a:pathLst>
              <a:path w="43814">
                <a:moveTo>
                  <a:pt x="0" y="0"/>
                </a:moveTo>
                <a:lnTo>
                  <a:pt x="4363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53118" y="1777682"/>
            <a:ext cx="65265" cy="65265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3514597" y="1842947"/>
            <a:ext cx="43815" cy="0"/>
          </a:xfrm>
          <a:custGeom>
            <a:avLst/>
            <a:gdLst/>
            <a:ahLst/>
            <a:cxnLst/>
            <a:rect l="l" t="t" r="r" b="b"/>
            <a:pathLst>
              <a:path w="43814">
                <a:moveTo>
                  <a:pt x="0" y="0"/>
                </a:moveTo>
                <a:lnTo>
                  <a:pt x="4363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930637" y="1842947"/>
            <a:ext cx="43815" cy="0"/>
          </a:xfrm>
          <a:custGeom>
            <a:avLst/>
            <a:gdLst/>
            <a:ahLst/>
            <a:cxnLst/>
            <a:rect l="l" t="t" r="r" b="b"/>
            <a:pathLst>
              <a:path w="43814">
                <a:moveTo>
                  <a:pt x="0" y="0"/>
                </a:moveTo>
                <a:lnTo>
                  <a:pt x="4363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274961" y="1020366"/>
            <a:ext cx="1318260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Calibri"/>
                <a:cs typeface="Calibri"/>
              </a:rPr>
              <a:t>n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spc="85" dirty="0">
                <a:latin typeface="Calibri"/>
                <a:cs typeface="Calibri"/>
              </a:rPr>
              <a:t>estimators</a:t>
            </a:r>
            <a:r>
              <a:rPr sz="1100" spc="85" dirty="0">
                <a:latin typeface="Arial MT"/>
                <a:cs typeface="Arial MT"/>
              </a:rPr>
              <a:t>: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100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spc="-10" dirty="0">
                <a:latin typeface="Calibri"/>
                <a:cs typeface="Calibri"/>
              </a:rPr>
              <a:t>max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depth</a:t>
            </a:r>
            <a:r>
              <a:rPr sz="1100" dirty="0">
                <a:latin typeface="Arial MT"/>
                <a:cs typeface="Arial MT"/>
              </a:rPr>
              <a:t>:</a:t>
            </a:r>
            <a:r>
              <a:rPr sz="1100" spc="21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6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spc="114" dirty="0">
                <a:latin typeface="Calibri"/>
                <a:cs typeface="Calibri"/>
              </a:rPr>
              <a:t>learning</a:t>
            </a:r>
            <a:r>
              <a:rPr sz="1100" spc="170" dirty="0">
                <a:latin typeface="Calibri"/>
                <a:cs typeface="Calibri"/>
              </a:rPr>
              <a:t> </a:t>
            </a:r>
            <a:r>
              <a:rPr sz="1100" spc="90" dirty="0">
                <a:latin typeface="Calibri"/>
                <a:cs typeface="Calibri"/>
              </a:rPr>
              <a:t>rate</a:t>
            </a:r>
            <a:r>
              <a:rPr sz="1100" spc="90" dirty="0">
                <a:latin typeface="Arial MT"/>
                <a:cs typeface="Arial MT"/>
              </a:rPr>
              <a:t>: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0.1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Calibri"/>
                <a:cs typeface="Calibri"/>
              </a:rPr>
              <a:t>min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spc="145" dirty="0">
                <a:latin typeface="Calibri"/>
                <a:cs typeface="Calibri"/>
              </a:rPr>
              <a:t>child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spc="55" dirty="0">
                <a:latin typeface="Calibri"/>
                <a:cs typeface="Calibri"/>
              </a:rPr>
              <a:t>weight</a:t>
            </a:r>
            <a:r>
              <a:rPr sz="1100" spc="55" dirty="0">
                <a:latin typeface="Arial MT"/>
                <a:cs typeface="Arial MT"/>
              </a:rPr>
              <a:t>: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3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37197" y="2265539"/>
            <a:ext cx="5285740" cy="198755"/>
          </a:xfrm>
          <a:custGeom>
            <a:avLst/>
            <a:gdLst/>
            <a:ahLst/>
            <a:cxnLst/>
            <a:rect l="l" t="t" r="r" b="b"/>
            <a:pathLst>
              <a:path w="5285740" h="198755">
                <a:moveTo>
                  <a:pt x="5234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285665" y="198367"/>
                </a:lnTo>
                <a:lnTo>
                  <a:pt x="5285665" y="50800"/>
                </a:lnTo>
                <a:lnTo>
                  <a:pt x="5281657" y="31075"/>
                </a:lnTo>
                <a:lnTo>
                  <a:pt x="5270742" y="14922"/>
                </a:lnTo>
                <a:lnTo>
                  <a:pt x="5254590" y="4008"/>
                </a:lnTo>
                <a:lnTo>
                  <a:pt x="5234865" y="0"/>
                </a:lnTo>
                <a:close/>
              </a:path>
            </a:pathLst>
          </a:custGeom>
          <a:solidFill>
            <a:srgbClr val="10B9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315756" y="2293987"/>
            <a:ext cx="112839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Best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Single</a:t>
            </a: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Model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37197" y="2451252"/>
            <a:ext cx="5285740" cy="495134"/>
            <a:chOff x="237197" y="2451252"/>
            <a:chExt cx="5285740" cy="495134"/>
          </a:xfrm>
        </p:grpSpPr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7197" y="2451252"/>
              <a:ext cx="5285665" cy="5060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37197" y="2495536"/>
              <a:ext cx="5285740" cy="450850"/>
            </a:xfrm>
            <a:custGeom>
              <a:avLst/>
              <a:gdLst/>
              <a:ahLst/>
              <a:cxnLst/>
              <a:rect l="l" t="t" r="r" b="b"/>
              <a:pathLst>
                <a:path w="5285740" h="450850">
                  <a:moveTo>
                    <a:pt x="5285665" y="0"/>
                  </a:moveTo>
                  <a:lnTo>
                    <a:pt x="0" y="0"/>
                  </a:lnTo>
                  <a:lnTo>
                    <a:pt x="0" y="399657"/>
                  </a:lnTo>
                  <a:lnTo>
                    <a:pt x="4008" y="419382"/>
                  </a:lnTo>
                  <a:lnTo>
                    <a:pt x="14922" y="435535"/>
                  </a:lnTo>
                  <a:lnTo>
                    <a:pt x="31075" y="446449"/>
                  </a:lnTo>
                  <a:lnTo>
                    <a:pt x="50800" y="450457"/>
                  </a:lnTo>
                  <a:lnTo>
                    <a:pt x="5234865" y="450457"/>
                  </a:lnTo>
                  <a:lnTo>
                    <a:pt x="5254590" y="446449"/>
                  </a:lnTo>
                  <a:lnTo>
                    <a:pt x="5270742" y="435535"/>
                  </a:lnTo>
                  <a:lnTo>
                    <a:pt x="5281657" y="419382"/>
                  </a:lnTo>
                  <a:lnTo>
                    <a:pt x="5285665" y="399657"/>
                  </a:lnTo>
                  <a:lnTo>
                    <a:pt x="5285665" y="0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87997" y="2371741"/>
            <a:ext cx="5285740" cy="57023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R="97155" algn="ctr">
              <a:lnSpc>
                <a:spcPct val="100000"/>
              </a:lnSpc>
              <a:spcBef>
                <a:spcPts val="850"/>
              </a:spcBef>
            </a:pPr>
            <a:r>
              <a:rPr sz="1400" b="1" spc="55" dirty="0">
                <a:solidFill>
                  <a:srgbClr val="1E283A"/>
                </a:solidFill>
                <a:latin typeface="Arial"/>
                <a:cs typeface="Arial"/>
              </a:rPr>
              <a:t>97.89%</a:t>
            </a:r>
            <a:r>
              <a:rPr sz="1400" b="1" spc="135" dirty="0">
                <a:solidFill>
                  <a:srgbClr val="1E283A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E283A"/>
                </a:solidFill>
                <a:latin typeface="Arial"/>
                <a:cs typeface="Arial"/>
              </a:rPr>
              <a:t>Accuracy</a:t>
            </a:r>
            <a:endParaRPr sz="1400">
              <a:latin typeface="Arial"/>
              <a:cs typeface="Arial"/>
            </a:endParaRPr>
          </a:p>
          <a:p>
            <a:pPr marR="93980" algn="ctr">
              <a:lnSpc>
                <a:spcPct val="100000"/>
              </a:lnSpc>
              <a:spcBef>
                <a:spcPts val="540"/>
              </a:spcBef>
            </a:pPr>
            <a:r>
              <a:rPr sz="1100" spc="-35" dirty="0">
                <a:solidFill>
                  <a:srgbClr val="1E283A"/>
                </a:solidFill>
                <a:latin typeface="Arial MT"/>
                <a:cs typeface="Arial MT"/>
              </a:rPr>
              <a:t>State-of-the-</a:t>
            </a:r>
            <a:r>
              <a:rPr sz="1100" dirty="0">
                <a:solidFill>
                  <a:srgbClr val="1E283A"/>
                </a:solidFill>
                <a:latin typeface="Arial MT"/>
                <a:cs typeface="Arial MT"/>
              </a:rPr>
              <a:t>art</a:t>
            </a:r>
            <a:r>
              <a:rPr sz="1100" spc="40" dirty="0">
                <a:solidFill>
                  <a:srgbClr val="1E28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83A"/>
                </a:solidFill>
                <a:latin typeface="Arial MT"/>
                <a:cs typeface="Arial MT"/>
              </a:rPr>
              <a:t>for</a:t>
            </a:r>
            <a:r>
              <a:rPr sz="1100" spc="45" dirty="0">
                <a:solidFill>
                  <a:srgbClr val="1E283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E283A"/>
                </a:solidFill>
                <a:latin typeface="Arial MT"/>
                <a:cs typeface="Arial MT"/>
              </a:rPr>
              <a:t>structured</a:t>
            </a:r>
            <a:r>
              <a:rPr sz="1100" spc="40" dirty="0">
                <a:solidFill>
                  <a:srgbClr val="1E28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E283A"/>
                </a:solidFill>
                <a:latin typeface="Arial MT"/>
                <a:cs typeface="Arial MT"/>
              </a:rPr>
              <a:t>tabular</a:t>
            </a:r>
            <a:r>
              <a:rPr sz="1100" spc="45" dirty="0">
                <a:solidFill>
                  <a:srgbClr val="1E283A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E283A"/>
                </a:solidFill>
                <a:latin typeface="Arial MT"/>
                <a:cs typeface="Arial MT"/>
              </a:rPr>
              <a:t>data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Traditional</a:t>
            </a:r>
            <a:r>
              <a:rPr spc="-10" dirty="0"/>
              <a:t> </a:t>
            </a:r>
            <a:r>
              <a:rPr dirty="0"/>
              <a:t>ML:</a:t>
            </a:r>
            <a:r>
              <a:rPr spc="-5" dirty="0"/>
              <a:t> </a:t>
            </a:r>
            <a:r>
              <a:rPr spc="-35" dirty="0"/>
              <a:t>Random</a:t>
            </a:r>
            <a:r>
              <a:rPr spc="-5" dirty="0"/>
              <a:t> </a:t>
            </a:r>
            <a:r>
              <a:rPr spc="-25" dirty="0"/>
              <a:t>Forest</a:t>
            </a:r>
            <a:r>
              <a:rPr spc="-5" dirty="0"/>
              <a:t> </a:t>
            </a:r>
            <a:r>
              <a:rPr spc="70" dirty="0"/>
              <a:t>+</a:t>
            </a:r>
            <a:r>
              <a:rPr spc="-5" dirty="0"/>
              <a:t> </a:t>
            </a:r>
            <a:r>
              <a:rPr spc="55" dirty="0"/>
              <a:t>PCA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8437" y="701051"/>
            <a:ext cx="36315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761615" algn="l"/>
              </a:tabLst>
            </a:pPr>
            <a:r>
              <a:rPr sz="1100" b="1" dirty="0">
                <a:solidFill>
                  <a:srgbClr val="00B4DC"/>
                </a:solidFill>
                <a:latin typeface="Arial"/>
                <a:cs typeface="Arial"/>
              </a:rPr>
              <a:t>PCA</a:t>
            </a:r>
            <a:r>
              <a:rPr sz="1100" b="1" spc="70" dirty="0">
                <a:solidFill>
                  <a:srgbClr val="00B4DC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B4DC"/>
                </a:solidFill>
                <a:latin typeface="Arial"/>
                <a:cs typeface="Arial"/>
              </a:rPr>
              <a:t>Preprocessing</a:t>
            </a:r>
            <a:r>
              <a:rPr sz="1100" b="1" dirty="0">
                <a:solidFill>
                  <a:srgbClr val="00B4DC"/>
                </a:solidFill>
                <a:latin typeface="Arial"/>
                <a:cs typeface="Arial"/>
              </a:rPr>
              <a:t>	</a:t>
            </a:r>
            <a:r>
              <a:rPr sz="1100" b="1" spc="-40" dirty="0">
                <a:solidFill>
                  <a:srgbClr val="7B39EC"/>
                </a:solidFill>
                <a:latin typeface="Arial"/>
                <a:cs typeface="Arial"/>
              </a:rPr>
              <a:t>Configuration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682" y="1102537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25526" y="1019084"/>
            <a:ext cx="1577975" cy="9944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25730">
              <a:lnSpc>
                <a:spcPct val="102699"/>
              </a:lnSpc>
              <a:spcBef>
                <a:spcPts val="55"/>
              </a:spcBef>
            </a:pPr>
            <a:r>
              <a:rPr sz="1100" spc="-80" dirty="0">
                <a:latin typeface="Arial MT"/>
                <a:cs typeface="Arial MT"/>
              </a:rPr>
              <a:t>Reduced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b="1" dirty="0">
                <a:latin typeface="Arial"/>
                <a:cs typeface="Arial"/>
              </a:rPr>
              <a:t>15</a:t>
            </a:r>
            <a:r>
              <a:rPr sz="1100" b="1" spc="80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principal </a:t>
            </a:r>
            <a:r>
              <a:rPr sz="1100" b="1" spc="-10" dirty="0">
                <a:latin typeface="Arial"/>
                <a:cs typeface="Arial"/>
              </a:rPr>
              <a:t>components</a:t>
            </a:r>
            <a:endParaRPr sz="1100">
              <a:latin typeface="Arial"/>
              <a:cs typeface="Arial"/>
            </a:endParaRPr>
          </a:p>
          <a:p>
            <a:pPr marL="12700" marR="5080" algn="just">
              <a:lnSpc>
                <a:spcPct val="125299"/>
              </a:lnSpc>
            </a:pPr>
            <a:r>
              <a:rPr sz="1100" spc="-45" dirty="0">
                <a:latin typeface="Arial MT"/>
                <a:cs typeface="Arial MT"/>
              </a:rPr>
              <a:t>Retained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b="1" dirty="0">
                <a:latin typeface="Arial"/>
                <a:cs typeface="Arial"/>
              </a:rPr>
              <a:t>96%</a:t>
            </a:r>
            <a:r>
              <a:rPr sz="1100" b="1" spc="5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variance </a:t>
            </a:r>
            <a:r>
              <a:rPr sz="1100" spc="-55" dirty="0">
                <a:latin typeface="Arial MT"/>
                <a:cs typeface="Arial MT"/>
              </a:rPr>
              <a:t>Faster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training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85" dirty="0">
                <a:latin typeface="Arial MT"/>
                <a:cs typeface="Arial MT"/>
              </a:rPr>
              <a:t>&amp;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inference </a:t>
            </a:r>
            <a:r>
              <a:rPr sz="1100" spc="-80" dirty="0">
                <a:latin typeface="Arial MT"/>
                <a:cs typeface="Arial MT"/>
              </a:rPr>
              <a:t>Reduced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overfitting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risk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682" y="1484642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3682" y="1694675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3682" y="1904707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53118" y="1102537"/>
            <a:ext cx="65265" cy="65265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3514597" y="1167803"/>
            <a:ext cx="43815" cy="0"/>
          </a:xfrm>
          <a:custGeom>
            <a:avLst/>
            <a:gdLst/>
            <a:ahLst/>
            <a:cxnLst/>
            <a:rect l="l" t="t" r="r" b="b"/>
            <a:pathLst>
              <a:path w="43814">
                <a:moveTo>
                  <a:pt x="0" y="0"/>
                </a:moveTo>
                <a:lnTo>
                  <a:pt x="4363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274961" y="975306"/>
            <a:ext cx="2130425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latin typeface="Calibri"/>
                <a:cs typeface="Calibri"/>
              </a:rPr>
              <a:t>max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depth</a:t>
            </a:r>
            <a:r>
              <a:rPr sz="1100" dirty="0">
                <a:latin typeface="Arial MT"/>
                <a:cs typeface="Arial MT"/>
              </a:rPr>
              <a:t>:</a:t>
            </a:r>
            <a:r>
              <a:rPr sz="1100" spc="21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15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25299"/>
              </a:lnSpc>
            </a:pPr>
            <a:r>
              <a:rPr sz="1100" spc="-55" dirty="0">
                <a:latin typeface="Arial MT"/>
                <a:cs typeface="Arial MT"/>
              </a:rPr>
              <a:t>Balanced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complexity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vs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performance </a:t>
            </a:r>
            <a:r>
              <a:rPr sz="1100" spc="-70" dirty="0">
                <a:latin typeface="Arial MT"/>
                <a:cs typeface="Arial MT"/>
              </a:rPr>
              <a:t>Deeper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trees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85" dirty="0">
                <a:latin typeface="Arial MT"/>
                <a:cs typeface="Arial MT"/>
              </a:rPr>
              <a:t>caused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overfitting </a:t>
            </a:r>
            <a:r>
              <a:rPr sz="1100" spc="-80" dirty="0">
                <a:latin typeface="Arial MT"/>
                <a:cs typeface="Arial MT"/>
              </a:rPr>
              <a:t>Ensemble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decision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trees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53118" y="1312570"/>
            <a:ext cx="65265" cy="6526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53118" y="1522602"/>
            <a:ext cx="65265" cy="6526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53118" y="1732635"/>
            <a:ext cx="65265" cy="65265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7197" y="2316720"/>
            <a:ext cx="5285740" cy="187960"/>
          </a:xfrm>
          <a:custGeom>
            <a:avLst/>
            <a:gdLst/>
            <a:ahLst/>
            <a:cxnLst/>
            <a:rect l="l" t="t" r="r" b="b"/>
            <a:pathLst>
              <a:path w="5285740" h="187960">
                <a:moveTo>
                  <a:pt x="5234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285665" y="187823"/>
                </a:lnTo>
                <a:lnTo>
                  <a:pt x="5285665" y="50800"/>
                </a:lnTo>
                <a:lnTo>
                  <a:pt x="5281657" y="31075"/>
                </a:lnTo>
                <a:lnTo>
                  <a:pt x="5270742" y="14922"/>
                </a:lnTo>
                <a:lnTo>
                  <a:pt x="5254590" y="4008"/>
                </a:lnTo>
                <a:lnTo>
                  <a:pt x="5234865" y="0"/>
                </a:lnTo>
                <a:close/>
              </a:path>
            </a:pathLst>
          </a:custGeom>
          <a:solidFill>
            <a:srgbClr val="10B9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282672" y="2345168"/>
            <a:ext cx="1195070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Best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Overall</a:t>
            </a:r>
            <a:r>
              <a:rPr sz="12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Model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37197" y="2491892"/>
            <a:ext cx="5285740" cy="521788"/>
            <a:chOff x="237197" y="2491892"/>
            <a:chExt cx="5285740" cy="521788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7197" y="2491892"/>
              <a:ext cx="5285665" cy="5060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37197" y="2536160"/>
              <a:ext cx="5285740" cy="477520"/>
            </a:xfrm>
            <a:custGeom>
              <a:avLst/>
              <a:gdLst/>
              <a:ahLst/>
              <a:cxnLst/>
              <a:rect l="l" t="t" r="r" b="b"/>
              <a:pathLst>
                <a:path w="5285740" h="477519">
                  <a:moveTo>
                    <a:pt x="5285665" y="0"/>
                  </a:moveTo>
                  <a:lnTo>
                    <a:pt x="0" y="0"/>
                  </a:lnTo>
                  <a:lnTo>
                    <a:pt x="0" y="426597"/>
                  </a:lnTo>
                  <a:lnTo>
                    <a:pt x="4008" y="446322"/>
                  </a:lnTo>
                  <a:lnTo>
                    <a:pt x="14922" y="462475"/>
                  </a:lnTo>
                  <a:lnTo>
                    <a:pt x="31075" y="473389"/>
                  </a:lnTo>
                  <a:lnTo>
                    <a:pt x="50800" y="477397"/>
                  </a:lnTo>
                  <a:lnTo>
                    <a:pt x="5234865" y="477397"/>
                  </a:lnTo>
                  <a:lnTo>
                    <a:pt x="5254590" y="473389"/>
                  </a:lnTo>
                  <a:lnTo>
                    <a:pt x="5270742" y="462475"/>
                  </a:lnTo>
                  <a:lnTo>
                    <a:pt x="5281657" y="446322"/>
                  </a:lnTo>
                  <a:lnTo>
                    <a:pt x="5285665" y="426597"/>
                  </a:lnTo>
                  <a:lnTo>
                    <a:pt x="5285665" y="0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87997" y="2412381"/>
            <a:ext cx="5285740" cy="57023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850"/>
              </a:spcBef>
              <a:tabLst>
                <a:tab pos="1708785" algn="l"/>
                <a:tab pos="2124710" algn="l"/>
              </a:tabLst>
            </a:pPr>
            <a:r>
              <a:rPr sz="1400" b="1" spc="55" dirty="0">
                <a:solidFill>
                  <a:srgbClr val="1E283A"/>
                </a:solidFill>
                <a:latin typeface="Arial"/>
                <a:cs typeface="Arial"/>
              </a:rPr>
              <a:t>97.95%</a:t>
            </a:r>
            <a:r>
              <a:rPr sz="1400" b="1" spc="135" dirty="0">
                <a:solidFill>
                  <a:srgbClr val="1E283A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E283A"/>
                </a:solidFill>
                <a:latin typeface="Arial"/>
                <a:cs typeface="Arial"/>
              </a:rPr>
              <a:t>Accuracy</a:t>
            </a:r>
            <a:r>
              <a:rPr sz="1400" b="1" dirty="0">
                <a:solidFill>
                  <a:srgbClr val="1E283A"/>
                </a:solidFill>
                <a:latin typeface="Arial"/>
                <a:cs typeface="Arial"/>
              </a:rPr>
              <a:t>	</a:t>
            </a:r>
            <a:r>
              <a:rPr sz="1400" spc="75" dirty="0">
                <a:solidFill>
                  <a:srgbClr val="1E283A"/>
                </a:solidFill>
                <a:latin typeface="Tahoma"/>
                <a:cs typeface="Tahoma"/>
              </a:rPr>
              <a:t>—</a:t>
            </a:r>
            <a:r>
              <a:rPr sz="1400" dirty="0">
                <a:solidFill>
                  <a:srgbClr val="1E283A"/>
                </a:solidFill>
                <a:latin typeface="Tahoma"/>
                <a:cs typeface="Tahoma"/>
              </a:rPr>
              <a:t>	</a:t>
            </a:r>
            <a:r>
              <a:rPr sz="1400" b="1" dirty="0">
                <a:solidFill>
                  <a:srgbClr val="1E283A"/>
                </a:solidFill>
                <a:latin typeface="Arial"/>
                <a:cs typeface="Arial"/>
              </a:rPr>
              <a:t>0.8268</a:t>
            </a:r>
            <a:r>
              <a:rPr sz="1400" b="1" spc="195" dirty="0">
                <a:solidFill>
                  <a:srgbClr val="1E283A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E283A"/>
                </a:solidFill>
                <a:latin typeface="Arial"/>
                <a:cs typeface="Arial"/>
              </a:rPr>
              <a:t>Macro</a:t>
            </a:r>
            <a:r>
              <a:rPr sz="1400" b="1" spc="200" dirty="0">
                <a:solidFill>
                  <a:srgbClr val="1E283A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1E283A"/>
                </a:solidFill>
                <a:latin typeface="Arial"/>
                <a:cs typeface="Arial"/>
              </a:rPr>
              <a:t>F1</a:t>
            </a:r>
            <a:endParaRPr sz="1400">
              <a:latin typeface="Arial"/>
              <a:cs typeface="Arial"/>
            </a:endParaRPr>
          </a:p>
          <a:p>
            <a:pPr marR="95885" algn="ctr">
              <a:lnSpc>
                <a:spcPct val="100000"/>
              </a:lnSpc>
              <a:spcBef>
                <a:spcPts val="540"/>
              </a:spcBef>
            </a:pPr>
            <a:r>
              <a:rPr sz="1100" spc="-40" dirty="0">
                <a:solidFill>
                  <a:srgbClr val="1E283A"/>
                </a:solidFill>
                <a:latin typeface="Arial MT"/>
                <a:cs typeface="Arial MT"/>
              </a:rPr>
              <a:t>Highest</a:t>
            </a:r>
            <a:r>
              <a:rPr sz="1100" spc="-30" dirty="0">
                <a:solidFill>
                  <a:srgbClr val="1E283A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1E283A"/>
                </a:solidFill>
                <a:latin typeface="Arial MT"/>
                <a:cs typeface="Arial MT"/>
              </a:rPr>
              <a:t>accuracy</a:t>
            </a:r>
            <a:r>
              <a:rPr sz="1100" spc="-10" dirty="0">
                <a:solidFill>
                  <a:srgbClr val="1E28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83A"/>
                </a:solidFill>
                <a:latin typeface="Arial MT"/>
                <a:cs typeface="Arial MT"/>
              </a:rPr>
              <a:t>AND</a:t>
            </a:r>
            <a:r>
              <a:rPr sz="1100" spc="-10" dirty="0">
                <a:solidFill>
                  <a:srgbClr val="1E283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1E283A"/>
                </a:solidFill>
                <a:latin typeface="Arial MT"/>
                <a:cs typeface="Arial MT"/>
              </a:rPr>
              <a:t>best</a:t>
            </a:r>
            <a:r>
              <a:rPr sz="1100" spc="-10" dirty="0">
                <a:solidFill>
                  <a:srgbClr val="1E283A"/>
                </a:solidFill>
                <a:latin typeface="Arial MT"/>
                <a:cs typeface="Arial MT"/>
              </a:rPr>
              <a:t> minority </a:t>
            </a:r>
            <a:r>
              <a:rPr sz="1100" spc="-80" dirty="0">
                <a:solidFill>
                  <a:srgbClr val="1E283A"/>
                </a:solidFill>
                <a:latin typeface="Arial MT"/>
                <a:cs typeface="Arial MT"/>
              </a:rPr>
              <a:t>class</a:t>
            </a:r>
            <a:r>
              <a:rPr sz="1100" spc="5" dirty="0">
                <a:solidFill>
                  <a:srgbClr val="1E283A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E283A"/>
                </a:solidFill>
                <a:latin typeface="Arial MT"/>
                <a:cs typeface="Arial MT"/>
              </a:rPr>
              <a:t>performance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Tabular</a:t>
            </a:r>
            <a:r>
              <a:rPr spc="-60" dirty="0"/>
              <a:t> </a:t>
            </a:r>
            <a:r>
              <a:rPr spc="-50" dirty="0"/>
              <a:t>Transformer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0889" y="687123"/>
            <a:ext cx="3291589" cy="113397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0555" y="2603461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52386" y="2470042"/>
            <a:ext cx="3310254" cy="667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300"/>
              </a:lnSpc>
              <a:spcBef>
                <a:spcPts val="100"/>
              </a:spcBef>
            </a:pPr>
            <a:r>
              <a:rPr sz="1000" b="1" spc="-20" dirty="0">
                <a:latin typeface="Arial"/>
                <a:cs typeface="Arial"/>
              </a:rPr>
              <a:t>Self-</a:t>
            </a:r>
            <a:r>
              <a:rPr sz="1000" b="1" dirty="0">
                <a:latin typeface="Arial"/>
                <a:cs typeface="Arial"/>
              </a:rPr>
              <a:t>Attention</a:t>
            </a:r>
            <a:r>
              <a:rPr sz="1000" dirty="0">
                <a:latin typeface="Arial MT"/>
                <a:cs typeface="Arial MT"/>
              </a:rPr>
              <a:t>:</a:t>
            </a:r>
            <a:r>
              <a:rPr sz="1000" spc="8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Each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feature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attends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ALL other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features </a:t>
            </a:r>
            <a:r>
              <a:rPr sz="1000" b="1" dirty="0">
                <a:latin typeface="Arial"/>
                <a:cs typeface="Arial"/>
              </a:rPr>
              <a:t>Multi-Head</a:t>
            </a:r>
            <a:r>
              <a:rPr sz="1000" b="1" spc="7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(4</a:t>
            </a:r>
            <a:r>
              <a:rPr sz="1000" b="1" spc="75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heads)</a:t>
            </a:r>
            <a:r>
              <a:rPr sz="1000" spc="-20" dirty="0">
                <a:latin typeface="Arial MT"/>
                <a:cs typeface="Arial MT"/>
              </a:rPr>
              <a:t>:</a:t>
            </a:r>
            <a:r>
              <a:rPr sz="1000" spc="150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Learns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different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relationship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patterns </a:t>
            </a:r>
            <a:r>
              <a:rPr sz="1000" b="1" spc="-10" dirty="0">
                <a:latin typeface="Arial"/>
                <a:cs typeface="Arial"/>
              </a:rPr>
              <a:t>Result</a:t>
            </a:r>
            <a:r>
              <a:rPr sz="1000" spc="-10" dirty="0">
                <a:latin typeface="Arial MT"/>
                <a:cs typeface="Arial MT"/>
              </a:rPr>
              <a:t>:</a:t>
            </a:r>
            <a:r>
              <a:rPr sz="1000" spc="6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96.64%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accuracy,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0.7376</a:t>
            </a:r>
            <a:r>
              <a:rPr sz="1000" spc="-20" dirty="0">
                <a:latin typeface="Arial MT"/>
                <a:cs typeface="Arial MT"/>
              </a:rPr>
              <a:t> Macro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F1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0555" y="2817279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0555" y="3031096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239874"/>
            <a:ext cx="14287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Ensemble</a:t>
            </a:r>
            <a:r>
              <a:rPr spc="-45" dirty="0"/>
              <a:t> </a:t>
            </a:r>
            <a:r>
              <a:rPr spc="-10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8437" y="882534"/>
            <a:ext cx="8763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35" dirty="0">
                <a:solidFill>
                  <a:srgbClr val="00B4DC"/>
                </a:solidFill>
                <a:latin typeface="Arial"/>
                <a:cs typeface="Arial"/>
              </a:rPr>
              <a:t>Voting-</a:t>
            </a:r>
            <a:r>
              <a:rPr sz="1100" b="1" spc="-40" dirty="0">
                <a:solidFill>
                  <a:srgbClr val="00B4DC"/>
                </a:solidFill>
                <a:latin typeface="Arial"/>
                <a:cs typeface="Arial"/>
              </a:rPr>
              <a:t>Based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682" y="1248016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25526" y="1120785"/>
            <a:ext cx="2122170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Hard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Voting</a:t>
            </a:r>
            <a:r>
              <a:rPr sz="1100" dirty="0">
                <a:latin typeface="Arial MT"/>
                <a:cs typeface="Arial MT"/>
              </a:rPr>
              <a:t>: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Majority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vote </a:t>
            </a:r>
            <a:r>
              <a:rPr sz="1100" b="1" spc="-10" dirty="0">
                <a:latin typeface="Arial"/>
                <a:cs typeface="Arial"/>
              </a:rPr>
              <a:t>Weighted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Voting</a:t>
            </a:r>
            <a:r>
              <a:rPr sz="1100" dirty="0">
                <a:latin typeface="Arial MT"/>
                <a:cs typeface="Arial MT"/>
              </a:rPr>
              <a:t>: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accuracy/F1 </a:t>
            </a:r>
            <a:r>
              <a:rPr sz="1100" b="1" spc="-20" dirty="0">
                <a:latin typeface="Arial"/>
                <a:cs typeface="Arial"/>
              </a:rPr>
              <a:t>Top-</a:t>
            </a:r>
            <a:r>
              <a:rPr sz="1100" b="1" dirty="0">
                <a:latin typeface="Arial"/>
                <a:cs typeface="Arial"/>
              </a:rPr>
              <a:t>K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Voting</a:t>
            </a:r>
            <a:r>
              <a:rPr sz="1100" dirty="0">
                <a:latin typeface="Arial MT"/>
                <a:cs typeface="Arial MT"/>
              </a:rPr>
              <a:t>: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Best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5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models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only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682" y="1458048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3682" y="1668081"/>
            <a:ext cx="65265" cy="652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48437" y="1938666"/>
            <a:ext cx="16637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30" dirty="0">
                <a:solidFill>
                  <a:srgbClr val="7B39EC"/>
                </a:solidFill>
                <a:latin typeface="Arial"/>
                <a:cs typeface="Arial"/>
              </a:rPr>
              <a:t>Stacking</a:t>
            </a:r>
            <a:r>
              <a:rPr sz="1100" b="1" spc="260" dirty="0">
                <a:solidFill>
                  <a:srgbClr val="7B39E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7B39EC"/>
                </a:solidFill>
                <a:latin typeface="Arial"/>
                <a:cs typeface="Arial"/>
              </a:rPr>
              <a:t>(Meta-</a:t>
            </a:r>
            <a:r>
              <a:rPr sz="1100" b="1" spc="-30" dirty="0">
                <a:solidFill>
                  <a:srgbClr val="7B39EC"/>
                </a:solidFill>
                <a:latin typeface="Arial"/>
                <a:cs typeface="Arial"/>
              </a:rPr>
              <a:t>Learning)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3682" y="2304135"/>
            <a:ext cx="65265" cy="6526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25526" y="2176917"/>
            <a:ext cx="1762125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spc="-85" dirty="0">
                <a:latin typeface="Arial MT"/>
                <a:cs typeface="Arial MT"/>
              </a:rPr>
              <a:t>Base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models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70" dirty="0">
                <a:latin typeface="Arial MT"/>
                <a:cs typeface="Arial MT"/>
              </a:rPr>
              <a:t>make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predictions Meta-</a:t>
            </a:r>
            <a:r>
              <a:rPr sz="1100" spc="-35" dirty="0">
                <a:latin typeface="Arial MT"/>
                <a:cs typeface="Arial MT"/>
              </a:rPr>
              <a:t>learner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combines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them </a:t>
            </a:r>
            <a:r>
              <a:rPr sz="1100" spc="-35" dirty="0">
                <a:latin typeface="Arial MT"/>
                <a:cs typeface="Arial MT"/>
              </a:rPr>
              <a:t>5-</a:t>
            </a:r>
            <a:r>
              <a:rPr sz="1100" dirty="0">
                <a:latin typeface="Arial MT"/>
                <a:cs typeface="Arial MT"/>
              </a:rPr>
              <a:t>fold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stratified</a:t>
            </a:r>
            <a:r>
              <a:rPr sz="1100" spc="-25" dirty="0">
                <a:latin typeface="Arial MT"/>
                <a:cs typeface="Arial MT"/>
              </a:rPr>
              <a:t> CV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3682" y="2514168"/>
            <a:ext cx="65265" cy="6526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3682" y="2724200"/>
            <a:ext cx="65265" cy="65265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2959772" y="1026184"/>
            <a:ext cx="2590165" cy="187960"/>
          </a:xfrm>
          <a:custGeom>
            <a:avLst/>
            <a:gdLst/>
            <a:ahLst/>
            <a:cxnLst/>
            <a:rect l="l" t="t" r="r" b="b"/>
            <a:pathLst>
              <a:path w="2590165" h="187959">
                <a:moveTo>
                  <a:pt x="253912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89929" y="187823"/>
                </a:lnTo>
                <a:lnTo>
                  <a:pt x="2589929" y="50800"/>
                </a:lnTo>
                <a:lnTo>
                  <a:pt x="2585921" y="31075"/>
                </a:lnTo>
                <a:lnTo>
                  <a:pt x="2575007" y="14922"/>
                </a:lnTo>
                <a:lnTo>
                  <a:pt x="2558854" y="4008"/>
                </a:lnTo>
                <a:lnTo>
                  <a:pt x="2539129" y="0"/>
                </a:lnTo>
                <a:close/>
              </a:path>
            </a:pathLst>
          </a:custGeom>
          <a:solidFill>
            <a:srgbClr val="0E17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010573" y="1054632"/>
            <a:ext cx="982344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35" dirty="0">
                <a:solidFill>
                  <a:srgbClr val="FFFFFF"/>
                </a:solidFill>
                <a:latin typeface="Tahoma"/>
                <a:cs typeface="Tahoma"/>
              </a:rPr>
              <a:t>10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Base Models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ts val="1200"/>
              </a:lnSpc>
              <a:spcBef>
                <a:spcPts val="95"/>
              </a:spcBef>
            </a:pPr>
            <a:r>
              <a:rPr spc="-10" dirty="0"/>
              <a:t>Gradient</a:t>
            </a:r>
            <a:r>
              <a:rPr spc="-40" dirty="0"/>
              <a:t> </a:t>
            </a:r>
            <a:r>
              <a:rPr spc="-10" dirty="0"/>
              <a:t>Boosting</a:t>
            </a:r>
          </a:p>
          <a:p>
            <a:pPr>
              <a:lnSpc>
                <a:spcPts val="1200"/>
              </a:lnSpc>
            </a:pPr>
            <a:r>
              <a:rPr b="0" dirty="0">
                <a:latin typeface="Arial MT"/>
                <a:cs typeface="Arial MT"/>
              </a:rPr>
              <a:t>LightGBM,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spc="-30" dirty="0">
                <a:latin typeface="Arial MT"/>
                <a:cs typeface="Arial MT"/>
              </a:rPr>
              <a:t>XGBoost,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CatBoost</a:t>
            </a:r>
          </a:p>
          <a:p>
            <a:pPr>
              <a:lnSpc>
                <a:spcPts val="1200"/>
              </a:lnSpc>
              <a:spcBef>
                <a:spcPts val="560"/>
              </a:spcBef>
            </a:pPr>
            <a:r>
              <a:rPr dirty="0"/>
              <a:t>Neural</a:t>
            </a:r>
            <a:r>
              <a:rPr spc="-40" dirty="0"/>
              <a:t> </a:t>
            </a:r>
            <a:r>
              <a:rPr spc="-10" dirty="0"/>
              <a:t>Networks</a:t>
            </a:r>
          </a:p>
          <a:p>
            <a:pPr>
              <a:lnSpc>
                <a:spcPts val="1200"/>
              </a:lnSpc>
            </a:pPr>
            <a:r>
              <a:rPr b="0" dirty="0">
                <a:latin typeface="Arial MT"/>
                <a:cs typeface="Arial MT"/>
              </a:rPr>
              <a:t>MLP,</a:t>
            </a:r>
            <a:r>
              <a:rPr b="0" spc="-4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DCN,</a:t>
            </a:r>
            <a:r>
              <a:rPr b="0" spc="-4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Transformer</a:t>
            </a:r>
          </a:p>
          <a:p>
            <a:pPr>
              <a:lnSpc>
                <a:spcPct val="100000"/>
              </a:lnSpc>
              <a:spcBef>
                <a:spcPts val="565"/>
              </a:spcBef>
            </a:pPr>
            <a:r>
              <a:rPr spc="-20" dirty="0"/>
              <a:t>Traditional</a:t>
            </a:r>
            <a:r>
              <a:rPr spc="55" dirty="0"/>
              <a:t> </a:t>
            </a:r>
            <a:r>
              <a:rPr spc="-25" dirty="0"/>
              <a:t>ML</a:t>
            </a:r>
          </a:p>
          <a:p>
            <a:pPr>
              <a:lnSpc>
                <a:spcPct val="100000"/>
              </a:lnSpc>
              <a:spcBef>
                <a:spcPts val="155"/>
              </a:spcBef>
            </a:pPr>
            <a:r>
              <a:rPr b="0" dirty="0">
                <a:latin typeface="Arial MT"/>
                <a:cs typeface="Arial MT"/>
              </a:rPr>
              <a:t>KNN,</a:t>
            </a:r>
            <a:r>
              <a:rPr b="0" spc="15" dirty="0">
                <a:latin typeface="Arial MT"/>
                <a:cs typeface="Arial MT"/>
              </a:rPr>
              <a:t> </a:t>
            </a:r>
            <a:r>
              <a:rPr b="0" spc="-20" dirty="0">
                <a:latin typeface="Arial MT"/>
                <a:cs typeface="Arial MT"/>
              </a:rPr>
              <a:t>Logistic</a:t>
            </a:r>
            <a:r>
              <a:rPr b="0" spc="25" dirty="0">
                <a:latin typeface="Arial MT"/>
                <a:cs typeface="Arial MT"/>
              </a:rPr>
              <a:t> </a:t>
            </a:r>
            <a:r>
              <a:rPr b="0" spc="-45" dirty="0">
                <a:latin typeface="Arial MT"/>
                <a:cs typeface="Arial MT"/>
              </a:rPr>
              <a:t>Reg.,</a:t>
            </a:r>
            <a:r>
              <a:rPr b="0" spc="15" dirty="0">
                <a:latin typeface="Arial MT"/>
                <a:cs typeface="Arial MT"/>
              </a:rPr>
              <a:t> </a:t>
            </a:r>
            <a:r>
              <a:rPr b="0" spc="-25" dirty="0">
                <a:latin typeface="Arial MT"/>
                <a:cs typeface="Arial MT"/>
              </a:rPr>
              <a:t>AdaBoost,</a:t>
            </a:r>
            <a:r>
              <a:rPr b="0" spc="20" dirty="0">
                <a:latin typeface="Arial MT"/>
                <a:cs typeface="Arial MT"/>
              </a:rPr>
              <a:t> </a:t>
            </a:r>
            <a:r>
              <a:rPr b="0" spc="-25" dirty="0">
                <a:latin typeface="Arial MT"/>
                <a:cs typeface="Arial MT"/>
              </a:rPr>
              <a:t>RF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39874"/>
            <a:ext cx="23514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Per-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Class</a:t>
            </a: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F1-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Score</a:t>
            </a: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Comparison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3779" y="735640"/>
            <a:ext cx="4082466" cy="227645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39874"/>
            <a:ext cx="13131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Ensemble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Results</a:t>
            </a:r>
            <a:endParaRPr sz="14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16862" y="1203667"/>
          <a:ext cx="2725419" cy="1209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0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6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542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Method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Accuracy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F1</a:t>
                      </a:r>
                      <a:r>
                        <a:rPr sz="1000" b="1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 dirty="0">
                          <a:latin typeface="Arial"/>
                          <a:cs typeface="Arial"/>
                        </a:rPr>
                        <a:t>(Weighted)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1035"/>
                        </a:lnSpc>
                      </a:pPr>
                      <a:r>
                        <a:rPr sz="1000" b="1" spc="-25" dirty="0">
                          <a:solidFill>
                            <a:srgbClr val="10B980"/>
                          </a:solidFill>
                          <a:latin typeface="Arial"/>
                          <a:cs typeface="Arial"/>
                        </a:rPr>
                        <a:t>Stacking</a:t>
                      </a:r>
                      <a:r>
                        <a:rPr sz="1000" b="1" spc="35" dirty="0">
                          <a:solidFill>
                            <a:srgbClr val="10B98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10B980"/>
                          </a:solidFill>
                          <a:latin typeface="Arial"/>
                          <a:cs typeface="Arial"/>
                        </a:rPr>
                        <a:t>(GB)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035"/>
                        </a:lnSpc>
                      </a:pPr>
                      <a:r>
                        <a:rPr sz="1000" b="1" spc="-10" dirty="0">
                          <a:solidFill>
                            <a:srgbClr val="10B980"/>
                          </a:solidFill>
                          <a:latin typeface="Arial"/>
                          <a:cs typeface="Arial"/>
                        </a:rPr>
                        <a:t>97.81%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035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0.9773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860">
                <a:tc>
                  <a:txBody>
                    <a:bodyPr/>
                    <a:lstStyle/>
                    <a:p>
                      <a:pPr marL="75565">
                        <a:lnSpc>
                          <a:spcPts val="1035"/>
                        </a:lnSpc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Stacking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(RF)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035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97.72%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0.9766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Stacking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(MLP)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05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97.54%</a:t>
                      </a:r>
                      <a:endParaRPr sz="1000" dirty="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05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0.9746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sz="1000" spc="-40" dirty="0">
                          <a:latin typeface="Arial MT"/>
                          <a:cs typeface="Arial MT"/>
                        </a:rPr>
                        <a:t>Top-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0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Voting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05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97.53%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05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0.9745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sz="1000" spc="-30" dirty="0">
                          <a:latin typeface="Arial MT"/>
                          <a:cs typeface="Arial MT"/>
                        </a:rPr>
                        <a:t>Weighted</a:t>
                      </a:r>
                      <a:r>
                        <a:rPr sz="1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Voting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05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97.38%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05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0.9730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L="75565">
                        <a:lnSpc>
                          <a:spcPts val="1050"/>
                        </a:lnSpc>
                      </a:pPr>
                      <a:r>
                        <a:rPr sz="1000" spc="-20" dirty="0">
                          <a:latin typeface="Arial MT"/>
                          <a:cs typeface="Arial MT"/>
                        </a:rPr>
                        <a:t>Hard</a:t>
                      </a:r>
                      <a:r>
                        <a:rPr sz="1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Voting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05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97.33%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050"/>
                        </a:lnSpc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0.9726</a:t>
                      </a:r>
                      <a:endParaRPr sz="10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239874"/>
            <a:ext cx="21615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Summary:</a:t>
            </a:r>
            <a:r>
              <a:rPr sz="1400" spc="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All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Model</a:t>
            </a:r>
            <a:r>
              <a:rPr sz="14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Results</a:t>
            </a:r>
            <a:endParaRPr sz="14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23238" y="951179"/>
          <a:ext cx="3511546" cy="15855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8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7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367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Model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Accuracy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Precision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Recall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F1</a:t>
                      </a:r>
                      <a:r>
                        <a:rPr sz="800" b="1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(Macro)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839">
                <a:tc>
                  <a:txBody>
                    <a:bodyPr/>
                    <a:lstStyle/>
                    <a:p>
                      <a:pPr marL="75565">
                        <a:lnSpc>
                          <a:spcPts val="819"/>
                        </a:lnSpc>
                      </a:pPr>
                      <a:r>
                        <a:rPr sz="800" b="1" spc="-30" dirty="0">
                          <a:solidFill>
                            <a:srgbClr val="10B980"/>
                          </a:solidFill>
                          <a:latin typeface="Arial"/>
                          <a:cs typeface="Arial"/>
                        </a:rPr>
                        <a:t>Random</a:t>
                      </a:r>
                      <a:r>
                        <a:rPr sz="800" b="1" spc="40" dirty="0">
                          <a:solidFill>
                            <a:srgbClr val="10B98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30" dirty="0">
                          <a:solidFill>
                            <a:srgbClr val="10B980"/>
                          </a:solidFill>
                          <a:latin typeface="Arial"/>
                          <a:cs typeface="Arial"/>
                        </a:rPr>
                        <a:t>Forest</a:t>
                      </a:r>
                      <a:r>
                        <a:rPr sz="800" b="1" spc="35" dirty="0">
                          <a:solidFill>
                            <a:srgbClr val="10B98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215" dirty="0">
                          <a:solidFill>
                            <a:srgbClr val="10B980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800" b="1" spc="40" dirty="0">
                          <a:solidFill>
                            <a:srgbClr val="10B98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10B980"/>
                          </a:solidFill>
                          <a:latin typeface="Arial"/>
                          <a:cs typeface="Arial"/>
                        </a:rPr>
                        <a:t>PCA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19"/>
                        </a:lnSpc>
                      </a:pPr>
                      <a:r>
                        <a:rPr sz="800" b="1" spc="-10" dirty="0">
                          <a:solidFill>
                            <a:srgbClr val="10B980"/>
                          </a:solidFill>
                          <a:latin typeface="Arial"/>
                          <a:cs typeface="Arial"/>
                        </a:rPr>
                        <a:t>97.95%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819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0.8173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0.8486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0.8268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555">
                <a:tc>
                  <a:txBody>
                    <a:bodyPr/>
                    <a:lstStyle/>
                    <a:p>
                      <a:pPr marL="75565">
                        <a:lnSpc>
                          <a:spcPts val="844"/>
                        </a:lnSpc>
                      </a:pPr>
                      <a:r>
                        <a:rPr sz="800" b="1" spc="-10" dirty="0">
                          <a:solidFill>
                            <a:srgbClr val="10B980"/>
                          </a:solidFill>
                          <a:latin typeface="Arial"/>
                          <a:cs typeface="Arial"/>
                        </a:rPr>
                        <a:t>XGBoost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44"/>
                        </a:lnSpc>
                      </a:pPr>
                      <a:r>
                        <a:rPr sz="800" b="1" spc="-10" dirty="0">
                          <a:solidFill>
                            <a:srgbClr val="10B980"/>
                          </a:solidFill>
                          <a:latin typeface="Arial"/>
                          <a:cs typeface="Arial"/>
                        </a:rPr>
                        <a:t>97.89%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844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–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4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–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4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–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110">
                <a:tc>
                  <a:txBody>
                    <a:bodyPr/>
                    <a:lstStyle/>
                    <a:p>
                      <a:pPr marL="75565">
                        <a:lnSpc>
                          <a:spcPts val="819"/>
                        </a:lnSpc>
                      </a:pPr>
                      <a:r>
                        <a:rPr sz="800" spc="-25" dirty="0">
                          <a:latin typeface="Arial MT"/>
                          <a:cs typeface="Arial MT"/>
                        </a:rPr>
                        <a:t>MLP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19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97.27%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819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–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19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–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–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014"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spc="-25" dirty="0">
                          <a:latin typeface="Arial MT"/>
                          <a:cs typeface="Arial MT"/>
                        </a:rPr>
                        <a:t>KNN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35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97.15%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835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–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35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–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35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–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0014"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spc="-20" dirty="0">
                          <a:latin typeface="Arial MT"/>
                          <a:cs typeface="Arial MT"/>
                        </a:rPr>
                        <a:t>CVAE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35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96.84%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835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0.7140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35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0.7403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35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0.7103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8745"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CatBoost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35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96.71%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835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–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35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–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35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0.7472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75565">
                        <a:lnSpc>
                          <a:spcPts val="844"/>
                        </a:lnSpc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Tabular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Transformer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44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96.64%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844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0.7266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4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0.7709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44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0.7376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0014"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spc="-25" dirty="0">
                          <a:latin typeface="Arial MT"/>
                          <a:cs typeface="Arial MT"/>
                        </a:rPr>
                        <a:t>DCN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35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96.28%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835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0.7095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35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0.7539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35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0.7120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0014"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Logistic</a:t>
                      </a:r>
                      <a:r>
                        <a:rPr sz="8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Regression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35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94.87%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835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0.6697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35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0.7327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35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0.6834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0014"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AdaBoost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35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94.73%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835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0.6824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35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0.7360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35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0.6810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LightGBM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35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93.08%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35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0.5920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35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0.6088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35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0.5878</a:t>
                      </a:r>
                      <a:endParaRPr sz="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48437" y="2672053"/>
            <a:ext cx="21723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10B980"/>
                </a:solidFill>
                <a:latin typeface="Arial"/>
                <a:cs typeface="Arial"/>
              </a:rPr>
              <a:t>Best</a:t>
            </a:r>
            <a:r>
              <a:rPr sz="1100" b="1" dirty="0">
                <a:solidFill>
                  <a:srgbClr val="10B980"/>
                </a:solidFill>
                <a:latin typeface="Arial"/>
                <a:cs typeface="Arial"/>
              </a:rPr>
              <a:t> </a:t>
            </a:r>
            <a:r>
              <a:rPr sz="1100" b="1" spc="-35" dirty="0">
                <a:solidFill>
                  <a:srgbClr val="10B980"/>
                </a:solidFill>
                <a:latin typeface="Arial"/>
                <a:cs typeface="Arial"/>
              </a:rPr>
              <a:t>Accuracy</a:t>
            </a:r>
            <a:r>
              <a:rPr sz="1100" spc="-35" dirty="0">
                <a:latin typeface="Arial MT"/>
                <a:cs typeface="Arial MT"/>
              </a:rPr>
              <a:t>: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RF+PCA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(97.95%)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97873" y="2672053"/>
            <a:ext cx="21640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solidFill>
                  <a:srgbClr val="7B39EC"/>
                </a:solidFill>
                <a:latin typeface="Arial"/>
                <a:cs typeface="Arial"/>
              </a:rPr>
              <a:t>Best</a:t>
            </a:r>
            <a:r>
              <a:rPr sz="1100" b="1" spc="30" dirty="0">
                <a:solidFill>
                  <a:srgbClr val="7B39E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7B39EC"/>
                </a:solidFill>
                <a:latin typeface="Arial"/>
                <a:cs typeface="Arial"/>
              </a:rPr>
              <a:t>Macro</a:t>
            </a:r>
            <a:r>
              <a:rPr sz="1100" b="1" spc="25" dirty="0">
                <a:solidFill>
                  <a:srgbClr val="7B39EC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7B39EC"/>
                </a:solidFill>
                <a:latin typeface="Arial"/>
                <a:cs typeface="Arial"/>
              </a:rPr>
              <a:t>F1</a:t>
            </a:r>
            <a:r>
              <a:rPr sz="1100" dirty="0">
                <a:latin typeface="Arial MT"/>
                <a:cs typeface="Arial MT"/>
              </a:rPr>
              <a:t>: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RF+PCA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(0.8268)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Summary:</a:t>
            </a:r>
            <a:r>
              <a:rPr spc="55" dirty="0"/>
              <a:t> </a:t>
            </a:r>
            <a:r>
              <a:rPr spc="-45" dirty="0"/>
              <a:t>Performance</a:t>
            </a:r>
            <a:r>
              <a:rPr spc="-65" dirty="0"/>
              <a:t> </a:t>
            </a:r>
            <a:r>
              <a:rPr spc="-30" dirty="0"/>
              <a:t>by</a:t>
            </a:r>
            <a:r>
              <a:rPr spc="-65" dirty="0"/>
              <a:t> </a:t>
            </a:r>
            <a:r>
              <a:rPr spc="-20" dirty="0"/>
              <a:t>Class</a:t>
            </a:r>
            <a:r>
              <a:rPr spc="-65" dirty="0"/>
              <a:t> </a:t>
            </a:r>
            <a:r>
              <a:rPr spc="-25" dirty="0"/>
              <a:t>Category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5297" y="657579"/>
            <a:ext cx="25628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10B980"/>
                </a:solidFill>
                <a:latin typeface="Arial"/>
                <a:cs typeface="Arial"/>
              </a:rPr>
              <a:t>Majority</a:t>
            </a:r>
            <a:r>
              <a:rPr sz="1100" b="1" spc="-20" dirty="0">
                <a:solidFill>
                  <a:srgbClr val="10B980"/>
                </a:solidFill>
                <a:latin typeface="Arial"/>
                <a:cs typeface="Arial"/>
              </a:rPr>
              <a:t> </a:t>
            </a:r>
            <a:r>
              <a:rPr sz="1100" b="1" spc="-90" dirty="0">
                <a:solidFill>
                  <a:srgbClr val="10B980"/>
                </a:solidFill>
                <a:latin typeface="Arial"/>
                <a:cs typeface="Arial"/>
              </a:rPr>
              <a:t>Classes</a:t>
            </a:r>
            <a:r>
              <a:rPr sz="1100" b="1" spc="15" dirty="0">
                <a:solidFill>
                  <a:srgbClr val="10B980"/>
                </a:solidFill>
                <a:latin typeface="Arial"/>
                <a:cs typeface="Arial"/>
              </a:rPr>
              <a:t> </a:t>
            </a:r>
            <a:r>
              <a:rPr sz="1000" spc="-10" dirty="0">
                <a:latin typeface="Arial MT"/>
                <a:cs typeface="Arial MT"/>
              </a:rPr>
              <a:t>(Benign, </a:t>
            </a:r>
            <a:r>
              <a:rPr sz="1000" dirty="0">
                <a:latin typeface="Arial MT"/>
                <a:cs typeface="Arial MT"/>
              </a:rPr>
              <a:t>NTP,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Syn,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TFTP)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3842" y="871980"/>
            <a:ext cx="1137285" cy="19177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49225" indent="-136525">
              <a:lnSpc>
                <a:spcPct val="100000"/>
              </a:lnSpc>
              <a:spcBef>
                <a:spcPts val="190"/>
              </a:spcBef>
              <a:buClr>
                <a:srgbClr val="00B4DC"/>
              </a:buClr>
              <a:buSzPct val="110000"/>
              <a:buFont typeface="Arial"/>
              <a:buChar char="•"/>
              <a:tabLst>
                <a:tab pos="149225" algn="l"/>
              </a:tabLst>
            </a:pPr>
            <a:r>
              <a:rPr sz="1000" spc="-50" dirty="0">
                <a:latin typeface="Arial MT"/>
                <a:cs typeface="Arial MT"/>
              </a:rPr>
              <a:t>Samples:</a:t>
            </a:r>
            <a:r>
              <a:rPr sz="1000" spc="60" dirty="0">
                <a:latin typeface="Arial MT"/>
                <a:cs typeface="Arial MT"/>
              </a:rPr>
              <a:t> </a:t>
            </a:r>
            <a:r>
              <a:rPr sz="1000" i="1" spc="-35" dirty="0">
                <a:latin typeface="Verdana"/>
                <a:cs typeface="Verdana"/>
              </a:rPr>
              <a:t>&gt;</a:t>
            </a:r>
            <a:r>
              <a:rPr sz="1000" spc="-35" dirty="0">
                <a:latin typeface="Arial MT"/>
                <a:cs typeface="Arial MT"/>
              </a:rPr>
              <a:t>10,000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4145" y="884001"/>
            <a:ext cx="15786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—</a:t>
            </a:r>
            <a:r>
              <a:rPr sz="1000" spc="150" dirty="0">
                <a:latin typeface="Arial MT"/>
                <a:cs typeface="Arial MT"/>
              </a:rPr>
              <a:t>  </a:t>
            </a:r>
            <a:r>
              <a:rPr sz="1000" dirty="0">
                <a:latin typeface="Arial MT"/>
                <a:cs typeface="Arial MT"/>
              </a:rPr>
              <a:t>F1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i="1" dirty="0">
                <a:latin typeface="Verdana"/>
                <a:cs typeface="Verdana"/>
              </a:rPr>
              <a:t>&gt;</a:t>
            </a:r>
            <a:r>
              <a:rPr sz="1000" i="1" spc="-65" dirty="0">
                <a:latin typeface="Verdana"/>
                <a:cs typeface="Verdana"/>
              </a:rPr>
              <a:t> </a:t>
            </a:r>
            <a:r>
              <a:rPr sz="1000" spc="-20" dirty="0">
                <a:latin typeface="Arial MT"/>
                <a:cs typeface="Arial MT"/>
              </a:rPr>
              <a:t>0.96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all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models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5297" y="1056086"/>
            <a:ext cx="3006725" cy="466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655" indent="-136525">
              <a:lnSpc>
                <a:spcPct val="100000"/>
              </a:lnSpc>
              <a:spcBef>
                <a:spcPts val="95"/>
              </a:spcBef>
              <a:buClr>
                <a:srgbClr val="00B4DC"/>
              </a:buClr>
              <a:buSzPct val="110000"/>
              <a:buFont typeface="Arial"/>
              <a:buChar char="•"/>
              <a:tabLst>
                <a:tab pos="287655" algn="l"/>
              </a:tabLst>
            </a:pPr>
            <a:r>
              <a:rPr sz="1000" spc="-55" dirty="0">
                <a:latin typeface="Arial MT"/>
                <a:cs typeface="Arial MT"/>
              </a:rPr>
              <a:t>Deep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learning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achieved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65" dirty="0">
                <a:latin typeface="Arial MT"/>
                <a:cs typeface="Arial MT"/>
              </a:rPr>
              <a:t>near-</a:t>
            </a:r>
            <a:r>
              <a:rPr sz="1000" spc="-10" dirty="0">
                <a:latin typeface="Arial MT"/>
                <a:cs typeface="Arial MT"/>
              </a:rPr>
              <a:t>perfect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80" dirty="0">
                <a:latin typeface="Arial MT"/>
                <a:cs typeface="Arial MT"/>
              </a:rPr>
              <a:t>scores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(</a:t>
            </a:r>
            <a:r>
              <a:rPr sz="1000" i="1" spc="-10" dirty="0">
                <a:latin typeface="Verdana"/>
                <a:cs typeface="Verdana"/>
              </a:rPr>
              <a:t>&gt;</a:t>
            </a:r>
            <a:r>
              <a:rPr sz="1000" spc="-10" dirty="0">
                <a:latin typeface="Arial MT"/>
                <a:cs typeface="Arial MT"/>
              </a:rPr>
              <a:t>0.99)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100" b="1" dirty="0">
                <a:solidFill>
                  <a:srgbClr val="F49E0B"/>
                </a:solidFill>
                <a:latin typeface="Arial"/>
                <a:cs typeface="Arial"/>
              </a:rPr>
              <a:t>Moderate</a:t>
            </a:r>
            <a:r>
              <a:rPr sz="1100" b="1" spc="10" dirty="0">
                <a:solidFill>
                  <a:srgbClr val="F49E0B"/>
                </a:solidFill>
                <a:latin typeface="Arial"/>
                <a:cs typeface="Arial"/>
              </a:rPr>
              <a:t> </a:t>
            </a:r>
            <a:r>
              <a:rPr sz="1100" b="1" spc="-90" dirty="0">
                <a:solidFill>
                  <a:srgbClr val="F49E0B"/>
                </a:solidFill>
                <a:latin typeface="Arial"/>
                <a:cs typeface="Arial"/>
              </a:rPr>
              <a:t>Classes</a:t>
            </a:r>
            <a:r>
              <a:rPr sz="1100" b="1" spc="15" dirty="0">
                <a:solidFill>
                  <a:srgbClr val="F49E0B"/>
                </a:solidFill>
                <a:latin typeface="Arial"/>
                <a:cs typeface="Arial"/>
              </a:rPr>
              <a:t> </a:t>
            </a:r>
            <a:r>
              <a:rPr sz="1000" spc="-20" dirty="0">
                <a:latin typeface="Arial MT"/>
                <a:cs typeface="Arial MT"/>
              </a:rPr>
              <a:t>(MSSQL,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UDP,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UDPLag)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3842" y="1544864"/>
            <a:ext cx="1390650" cy="19177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49225" indent="-136525">
              <a:lnSpc>
                <a:spcPct val="100000"/>
              </a:lnSpc>
              <a:spcBef>
                <a:spcPts val="190"/>
              </a:spcBef>
              <a:buClr>
                <a:srgbClr val="00B4DC"/>
              </a:buClr>
              <a:buSzPct val="110000"/>
              <a:buFont typeface="Arial"/>
              <a:buChar char="•"/>
              <a:tabLst>
                <a:tab pos="149225" algn="l"/>
              </a:tabLst>
            </a:pPr>
            <a:r>
              <a:rPr sz="1000" spc="-50" dirty="0">
                <a:latin typeface="Arial MT"/>
                <a:cs typeface="Arial MT"/>
              </a:rPr>
              <a:t>Samples:</a:t>
            </a:r>
            <a:r>
              <a:rPr sz="1000" spc="6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1,000–10,000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47375" y="1556885"/>
            <a:ext cx="14395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—</a:t>
            </a:r>
            <a:r>
              <a:rPr sz="1000" spc="160" dirty="0">
                <a:latin typeface="Arial MT"/>
                <a:cs typeface="Arial MT"/>
              </a:rPr>
              <a:t>  </a:t>
            </a:r>
            <a:r>
              <a:rPr sz="1000" dirty="0">
                <a:latin typeface="Arial MT"/>
                <a:cs typeface="Arial MT"/>
              </a:rPr>
              <a:t>F1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between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0.72–0.94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5297" y="1728957"/>
            <a:ext cx="3352165" cy="466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655" indent="-136525">
              <a:lnSpc>
                <a:spcPct val="100000"/>
              </a:lnSpc>
              <a:spcBef>
                <a:spcPts val="95"/>
              </a:spcBef>
              <a:buClr>
                <a:srgbClr val="00B4DC"/>
              </a:buClr>
              <a:buSzPct val="110000"/>
              <a:buFont typeface="Arial"/>
              <a:buChar char="•"/>
              <a:tabLst>
                <a:tab pos="287655" algn="l"/>
              </a:tabLst>
            </a:pPr>
            <a:r>
              <a:rPr sz="1000" spc="-10" dirty="0">
                <a:latin typeface="Arial MT"/>
                <a:cs typeface="Arial MT"/>
              </a:rPr>
              <a:t>DCN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85" dirty="0">
                <a:latin typeface="Arial MT"/>
                <a:cs typeface="Arial MT"/>
              </a:rPr>
              <a:t>&amp;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Transformer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particularly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effective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100" b="1" dirty="0">
                <a:solidFill>
                  <a:srgbClr val="EF4444"/>
                </a:solidFill>
                <a:latin typeface="Arial"/>
                <a:cs typeface="Arial"/>
              </a:rPr>
              <a:t>Minority</a:t>
            </a:r>
            <a:r>
              <a:rPr sz="1100" b="1" spc="-30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100" b="1" spc="-90" dirty="0">
                <a:solidFill>
                  <a:srgbClr val="EF4444"/>
                </a:solidFill>
                <a:latin typeface="Arial"/>
                <a:cs typeface="Arial"/>
              </a:rPr>
              <a:t>Classes</a:t>
            </a:r>
            <a:r>
              <a:rPr sz="1100" b="1" spc="15" dirty="0">
                <a:solidFill>
                  <a:srgbClr val="EF4444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(DNS,</a:t>
            </a:r>
            <a:r>
              <a:rPr sz="1000" spc="-20" dirty="0">
                <a:latin typeface="Arial MT"/>
                <a:cs typeface="Arial MT"/>
              </a:rPr>
              <a:t> LDAP, NetBIOS,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Portmap, </a:t>
            </a:r>
            <a:r>
              <a:rPr sz="1000" spc="-10" dirty="0">
                <a:latin typeface="Arial MT"/>
                <a:cs typeface="Arial MT"/>
              </a:rPr>
              <a:t>SNMP)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3842" y="2217748"/>
            <a:ext cx="1073785" cy="19177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49225" indent="-136525">
              <a:lnSpc>
                <a:spcPct val="100000"/>
              </a:lnSpc>
              <a:spcBef>
                <a:spcPts val="190"/>
              </a:spcBef>
              <a:buClr>
                <a:srgbClr val="00B4DC"/>
              </a:buClr>
              <a:buSzPct val="110000"/>
              <a:buFont typeface="Arial"/>
              <a:buChar char="•"/>
              <a:tabLst>
                <a:tab pos="149225" algn="l"/>
              </a:tabLst>
            </a:pPr>
            <a:r>
              <a:rPr sz="1000" spc="-50" dirty="0">
                <a:latin typeface="Arial MT"/>
                <a:cs typeface="Arial MT"/>
              </a:rPr>
              <a:t>Samples:</a:t>
            </a:r>
            <a:r>
              <a:rPr sz="1000" spc="60" dirty="0">
                <a:latin typeface="Arial MT"/>
                <a:cs typeface="Arial MT"/>
              </a:rPr>
              <a:t> </a:t>
            </a:r>
            <a:r>
              <a:rPr sz="1000" i="1" spc="-30" dirty="0">
                <a:latin typeface="Verdana"/>
                <a:cs typeface="Verdana"/>
              </a:rPr>
              <a:t>&lt;</a:t>
            </a:r>
            <a:r>
              <a:rPr sz="1000" spc="-30" dirty="0">
                <a:latin typeface="Arial MT"/>
                <a:cs typeface="Arial MT"/>
              </a:rPr>
              <a:t>1,000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0883" y="2229769"/>
            <a:ext cx="11188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—</a:t>
            </a:r>
            <a:r>
              <a:rPr sz="1000" spc="175" dirty="0">
                <a:latin typeface="Arial MT"/>
                <a:cs typeface="Arial MT"/>
              </a:rPr>
              <a:t>  </a:t>
            </a:r>
            <a:r>
              <a:rPr sz="1000" dirty="0">
                <a:latin typeface="Arial MT"/>
                <a:cs typeface="Arial MT"/>
              </a:rPr>
              <a:t>F1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varies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widely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3842" y="2401841"/>
            <a:ext cx="2445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225" indent="-136525">
              <a:lnSpc>
                <a:spcPct val="100000"/>
              </a:lnSpc>
              <a:spcBef>
                <a:spcPts val="95"/>
              </a:spcBef>
              <a:buClr>
                <a:srgbClr val="00B4DC"/>
              </a:buClr>
              <a:buSzPct val="110000"/>
              <a:buFont typeface="Arial"/>
              <a:buChar char="•"/>
              <a:tabLst>
                <a:tab pos="149225" algn="l"/>
              </a:tabLst>
            </a:pPr>
            <a:r>
              <a:rPr sz="1000" spc="-40" dirty="0">
                <a:latin typeface="Arial MT"/>
                <a:cs typeface="Arial MT"/>
              </a:rPr>
              <a:t>Challenging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despite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weighted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loss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functions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7197" y="2755962"/>
            <a:ext cx="5285740" cy="198755"/>
          </a:xfrm>
          <a:custGeom>
            <a:avLst/>
            <a:gdLst/>
            <a:ahLst/>
            <a:cxnLst/>
            <a:rect l="l" t="t" r="r" b="b"/>
            <a:pathLst>
              <a:path w="5285740" h="198755">
                <a:moveTo>
                  <a:pt x="5234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285665" y="198367"/>
                </a:lnTo>
                <a:lnTo>
                  <a:pt x="5285665" y="50800"/>
                </a:lnTo>
                <a:lnTo>
                  <a:pt x="5281657" y="31075"/>
                </a:lnTo>
                <a:lnTo>
                  <a:pt x="5270742" y="14922"/>
                </a:lnTo>
                <a:lnTo>
                  <a:pt x="5254590" y="4008"/>
                </a:lnTo>
                <a:lnTo>
                  <a:pt x="5234865" y="0"/>
                </a:lnTo>
                <a:close/>
              </a:path>
            </a:pathLst>
          </a:custGeom>
          <a:solidFill>
            <a:srgbClr val="F49E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87997" y="2784410"/>
            <a:ext cx="1128395" cy="153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Primary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Challenge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37197" y="2941675"/>
            <a:ext cx="5285740" cy="237315"/>
            <a:chOff x="237197" y="2941675"/>
            <a:chExt cx="5285740" cy="23731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197" y="2941675"/>
              <a:ext cx="5285665" cy="5060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37197" y="2985950"/>
              <a:ext cx="5285740" cy="193040"/>
            </a:xfrm>
            <a:custGeom>
              <a:avLst/>
              <a:gdLst/>
              <a:ahLst/>
              <a:cxnLst/>
              <a:rect l="l" t="t" r="r" b="b"/>
              <a:pathLst>
                <a:path w="5285740" h="193039">
                  <a:moveTo>
                    <a:pt x="5285665" y="0"/>
                  </a:moveTo>
                  <a:lnTo>
                    <a:pt x="0" y="0"/>
                  </a:lnTo>
                  <a:lnTo>
                    <a:pt x="0" y="142084"/>
                  </a:lnTo>
                  <a:lnTo>
                    <a:pt x="4008" y="161809"/>
                  </a:lnTo>
                  <a:lnTo>
                    <a:pt x="14922" y="177962"/>
                  </a:lnTo>
                  <a:lnTo>
                    <a:pt x="31075" y="188876"/>
                  </a:lnTo>
                  <a:lnTo>
                    <a:pt x="50800" y="192885"/>
                  </a:lnTo>
                  <a:lnTo>
                    <a:pt x="5234865" y="192885"/>
                  </a:lnTo>
                  <a:lnTo>
                    <a:pt x="5254590" y="188876"/>
                  </a:lnTo>
                  <a:lnTo>
                    <a:pt x="5270742" y="177962"/>
                  </a:lnTo>
                  <a:lnTo>
                    <a:pt x="5281657" y="161809"/>
                  </a:lnTo>
                  <a:lnTo>
                    <a:pt x="5285665" y="142084"/>
                  </a:lnTo>
                  <a:lnTo>
                    <a:pt x="5285665" y="0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87997" y="2956228"/>
            <a:ext cx="52857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55295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1E283A"/>
                </a:solidFill>
                <a:latin typeface="Arial"/>
                <a:cs typeface="Arial"/>
              </a:rPr>
              <a:t>176:1</a:t>
            </a:r>
            <a:r>
              <a:rPr sz="1100" b="1" spc="25" dirty="0">
                <a:solidFill>
                  <a:srgbClr val="1E283A"/>
                </a:solidFill>
                <a:latin typeface="Arial"/>
                <a:cs typeface="Arial"/>
              </a:rPr>
              <a:t> </a:t>
            </a:r>
            <a:r>
              <a:rPr sz="1100" b="1" spc="-85" dirty="0">
                <a:solidFill>
                  <a:srgbClr val="1E283A"/>
                </a:solidFill>
                <a:latin typeface="Arial"/>
                <a:cs typeface="Arial"/>
              </a:rPr>
              <a:t>class</a:t>
            </a:r>
            <a:r>
              <a:rPr sz="1100" b="1" spc="25" dirty="0">
                <a:solidFill>
                  <a:srgbClr val="1E283A"/>
                </a:solidFill>
                <a:latin typeface="Arial"/>
                <a:cs typeface="Arial"/>
              </a:rPr>
              <a:t> </a:t>
            </a:r>
            <a:r>
              <a:rPr sz="1100" b="1" spc="-40" dirty="0">
                <a:solidFill>
                  <a:srgbClr val="1E283A"/>
                </a:solidFill>
                <a:latin typeface="Arial"/>
                <a:cs typeface="Arial"/>
              </a:rPr>
              <a:t>imbalance</a:t>
            </a:r>
            <a:r>
              <a:rPr sz="1100" b="1" spc="5" dirty="0">
                <a:solidFill>
                  <a:srgbClr val="1E283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E283A"/>
                </a:solidFill>
                <a:latin typeface="Arial MT"/>
                <a:cs typeface="Arial MT"/>
              </a:rPr>
              <a:t>– Minority </a:t>
            </a:r>
            <a:r>
              <a:rPr sz="1100" spc="-80" dirty="0">
                <a:solidFill>
                  <a:srgbClr val="1E283A"/>
                </a:solidFill>
                <a:latin typeface="Arial MT"/>
                <a:cs typeface="Arial MT"/>
              </a:rPr>
              <a:t>class</a:t>
            </a:r>
            <a:r>
              <a:rPr sz="1100" spc="5" dirty="0">
                <a:solidFill>
                  <a:srgbClr val="1E283A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1E283A"/>
                </a:solidFill>
                <a:latin typeface="Arial MT"/>
                <a:cs typeface="Arial MT"/>
              </a:rPr>
              <a:t>detection</a:t>
            </a:r>
            <a:r>
              <a:rPr sz="1100" dirty="0">
                <a:solidFill>
                  <a:srgbClr val="1E283A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1E283A"/>
                </a:solidFill>
                <a:latin typeface="Arial MT"/>
                <a:cs typeface="Arial MT"/>
              </a:rPr>
              <a:t>remains</a:t>
            </a:r>
            <a:r>
              <a:rPr sz="1100" spc="5" dirty="0">
                <a:solidFill>
                  <a:srgbClr val="1E283A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E283A"/>
                </a:solidFill>
                <a:latin typeface="Arial MT"/>
                <a:cs typeface="Arial MT"/>
              </a:rPr>
              <a:t>the </a:t>
            </a:r>
            <a:r>
              <a:rPr sz="1100" spc="-10" dirty="0">
                <a:solidFill>
                  <a:srgbClr val="1E283A"/>
                </a:solidFill>
                <a:latin typeface="Arial MT"/>
                <a:cs typeface="Arial MT"/>
              </a:rPr>
              <a:t>bottleneck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614</Words>
  <Application>Microsoft Office PowerPoint</Application>
  <PresentationFormat>Custom</PresentationFormat>
  <Paragraphs>186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MT</vt:lpstr>
      <vt:lpstr>Calibri</vt:lpstr>
      <vt:lpstr>Tahoma</vt:lpstr>
      <vt:lpstr>Times New Roman</vt:lpstr>
      <vt:lpstr>Verdana</vt:lpstr>
      <vt:lpstr>Office Theme</vt:lpstr>
      <vt:lpstr>DDoS Attack Detection</vt:lpstr>
      <vt:lpstr>Problem Statement</vt:lpstr>
      <vt:lpstr>Dataset: CICDDoS2019</vt:lpstr>
      <vt:lpstr>PowerPoint Presentation</vt:lpstr>
      <vt:lpstr>PowerPoint Presentation</vt:lpstr>
      <vt:lpstr>Data Preprocessing Pipeline</vt:lpstr>
      <vt:lpstr>Models Evaluated</vt:lpstr>
      <vt:lpstr>Gradient Boosting: XGBoost</vt:lpstr>
      <vt:lpstr>Traditional ML: Random Forest + PCA</vt:lpstr>
      <vt:lpstr>Tabular Transformer</vt:lpstr>
      <vt:lpstr>Ensemble Methods</vt:lpstr>
      <vt:lpstr>PowerPoint Presentation</vt:lpstr>
      <vt:lpstr>PowerPoint Presentation</vt:lpstr>
      <vt:lpstr>PowerPoint Presentation</vt:lpstr>
      <vt:lpstr>Summary: Performance by Class Category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DDoS Attack Detection - Comparative Analysis of ML and Deep Learning Models</dc:title>
  <cp:lastModifiedBy>Mohamed Hussein Mohamed</cp:lastModifiedBy>
  <cp:revision>1</cp:revision>
  <dcterms:created xsi:type="dcterms:W3CDTF">2026-01-12T16:47:34Z</dcterms:created>
  <dcterms:modified xsi:type="dcterms:W3CDTF">2026-01-12T16:49:27Z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2026-01-12T00:00:00Z</vt:filetime>
  </property>
  <property fmtid="{D5CDD505-2E9C-101B-9397-08002B2CF9AE}" pid="5" name="PTEX.Fullbanner">
    <vt:lpwstr>This is pdfTeX, Version 3.141592653-2.6-1.40.25 (TeX Live 2023/Debian) kpathsea version 6.3.5</vt:lpwstr>
  </property>
  <property fmtid="{D5CDD505-2E9C-101B-9397-08002B2CF9AE}" pid="6" name="Producer">
    <vt:lpwstr>pdfTeX-1.40.25</vt:lpwstr>
  </property>
</Properties>
</file>